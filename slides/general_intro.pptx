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17"/>
  </p:notesMasterIdLst>
  <p:handoutMasterIdLst>
    <p:handoutMasterId r:id="rId18"/>
  </p:handoutMasterIdLst>
  <p:sldIdLst>
    <p:sldId id="258" r:id="rId5"/>
    <p:sldId id="271" r:id="rId6"/>
    <p:sldId id="272" r:id="rId7"/>
    <p:sldId id="274" r:id="rId8"/>
    <p:sldId id="273" r:id="rId9"/>
    <p:sldId id="259" r:id="rId10"/>
    <p:sldId id="260" r:id="rId11"/>
    <p:sldId id="263" r:id="rId12"/>
    <p:sldId id="275" r:id="rId13"/>
    <p:sldId id="277" r:id="rId14"/>
    <p:sldId id="276" r:id="rId15"/>
    <p:sldId id="278" r:id="rId16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>
      <p:cViewPr varScale="1">
        <p:scale>
          <a:sx n="121" d="100"/>
          <a:sy n="121" d="100"/>
        </p:scale>
        <p:origin x="1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21/01/26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‹#›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‹#›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8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83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7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2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2063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2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Trascinare l'immagine su un segnaposto o fare clic sull'icona per aggiungerla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160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FCF993-D11C-B448-A99B-84A5F27957B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-6036" y="0"/>
            <a:ext cx="12192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 dirty="0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B2BD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emf"/><Relationship Id="rId5" Type="http://schemas.openxmlformats.org/officeDocument/2006/relationships/tags" Target="../tags/tag5.xml"/><Relationship Id="rId10" Type="http://schemas.openxmlformats.org/officeDocument/2006/relationships/image" Target="../media/image9.emf"/><Relationship Id="rId4" Type="http://schemas.openxmlformats.org/officeDocument/2006/relationships/tags" Target="../tags/tag4.xml"/><Relationship Id="rId9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4" Type="http://schemas.openxmlformats.org/officeDocument/2006/relationships/image" Target="../media/image1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9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8.emf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altLang="x-none" dirty="0">
                <a:solidFill>
                  <a:srgbClr val="00B2BD"/>
                </a:solidFill>
                <a:ea typeface="ＭＳ Ｐゴシック" charset="-128"/>
              </a:rPr>
              <a:t>Deep Learning for System Identification</a:t>
            </a:r>
            <a:endParaRPr lang="x-none" altLang="x-none">
              <a:solidFill>
                <a:srgbClr val="00B2BD"/>
              </a:solidFill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4725144"/>
            <a:ext cx="11328400" cy="952500"/>
          </a:xfrm>
        </p:spPr>
        <p:txBody>
          <a:bodyPr/>
          <a:lstStyle/>
          <a:p>
            <a:r>
              <a:rPr lang="it-IT" altLang="x-none" dirty="0">
                <a:ea typeface="ＭＳ Ｐゴシック" charset="-128"/>
              </a:rPr>
              <a:t>Marco Forgione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SUPSI –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Scuola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Universitaria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Professionale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della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Svizzera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Italiana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IDSIA – Dalle Molle Institute for Artificial Intelligence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marco.forgione@supsi.ch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6ADC-30E8-06C5-89ED-0E5F49A0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Artificial Intelligence, Machine Learning, Deep Learning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244068C-4A87-BB87-9675-359F682A0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98" y="1844676"/>
            <a:ext cx="8216403" cy="40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8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EB4060-FE11-66A2-A801-AD620FFC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Machine learning: Regression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C036583-E92E-F378-102D-6B3BBDC286DC}"/>
              </a:ext>
            </a:extLst>
          </p:cNvPr>
          <p:cNvSpPr txBox="1">
            <a:spLocks/>
          </p:cNvSpPr>
          <p:nvPr/>
        </p:nvSpPr>
        <p:spPr>
          <a:xfrm>
            <a:off x="7176120" y="1178938"/>
            <a:ext cx="3590439" cy="523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it-CH" sz="2000" dirty="0"/>
              <a:t>	</a:t>
            </a:r>
            <a:r>
              <a:rPr lang="en-US" sz="2000" dirty="0"/>
              <a:t>Real estate application</a:t>
            </a:r>
            <a:endParaRPr lang="it-CH" sz="2000" dirty="0"/>
          </a:p>
        </p:txBody>
      </p:sp>
      <p:pic>
        <p:nvPicPr>
          <p:cNvPr id="10" name="Immagine 3">
            <a:extLst>
              <a:ext uri="{FF2B5EF4-FFF2-40B4-BE49-F238E27FC236}">
                <a16:creationId xmlns:a16="http://schemas.microsoft.com/office/drawing/2014/main" id="{01EF6407-3BAE-061E-CC60-5F9E3F8EB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1508554"/>
            <a:ext cx="5707770" cy="3648638"/>
          </a:xfrm>
          <a:prstGeom prst="rect">
            <a:avLst/>
          </a:prstGeom>
        </p:spPr>
      </p:pic>
      <p:sp>
        <p:nvSpPr>
          <p:cNvPr id="12" name="Figura a mano libera 4">
            <a:extLst>
              <a:ext uri="{FF2B5EF4-FFF2-40B4-BE49-F238E27FC236}">
                <a16:creationId xmlns:a16="http://schemas.microsoft.com/office/drawing/2014/main" id="{25B1EF2B-2AC3-D76E-77F9-92A6B59616E1}"/>
              </a:ext>
            </a:extLst>
          </p:cNvPr>
          <p:cNvSpPr/>
          <p:nvPr/>
        </p:nvSpPr>
        <p:spPr>
          <a:xfrm>
            <a:off x="7039725" y="1700808"/>
            <a:ext cx="3672408" cy="2656917"/>
          </a:xfrm>
          <a:custGeom>
            <a:avLst/>
            <a:gdLst>
              <a:gd name="connsiteX0" fmla="*/ 0 w 4427702"/>
              <a:gd name="connsiteY0" fmla="*/ 3224469 h 3224469"/>
              <a:gd name="connsiteX1" fmla="*/ 1110343 w 4427702"/>
              <a:gd name="connsiteY1" fmla="*/ 2887012 h 3224469"/>
              <a:gd name="connsiteX2" fmla="*/ 2122714 w 4427702"/>
              <a:gd name="connsiteY2" fmla="*/ 2222984 h 3224469"/>
              <a:gd name="connsiteX3" fmla="*/ 2906485 w 4427702"/>
              <a:gd name="connsiteY3" fmla="*/ 1406555 h 3224469"/>
              <a:gd name="connsiteX4" fmla="*/ 4234543 w 4427702"/>
              <a:gd name="connsiteY4" fmla="*/ 198241 h 3224469"/>
              <a:gd name="connsiteX5" fmla="*/ 4419600 w 4427702"/>
              <a:gd name="connsiteY5" fmla="*/ 2298 h 3224469"/>
              <a:gd name="connsiteX6" fmla="*/ 4419600 w 4427702"/>
              <a:gd name="connsiteY6" fmla="*/ 2298 h 3224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7702" h="3224469">
                <a:moveTo>
                  <a:pt x="0" y="3224469"/>
                </a:moveTo>
                <a:cubicBezTo>
                  <a:pt x="378278" y="3139197"/>
                  <a:pt x="756557" y="3053926"/>
                  <a:pt x="1110343" y="2887012"/>
                </a:cubicBezTo>
                <a:cubicBezTo>
                  <a:pt x="1464129" y="2720098"/>
                  <a:pt x="1823357" y="2469727"/>
                  <a:pt x="2122714" y="2222984"/>
                </a:cubicBezTo>
                <a:cubicBezTo>
                  <a:pt x="2422071" y="1976241"/>
                  <a:pt x="2554514" y="1744012"/>
                  <a:pt x="2906485" y="1406555"/>
                </a:cubicBezTo>
                <a:cubicBezTo>
                  <a:pt x="3258456" y="1069098"/>
                  <a:pt x="3982357" y="432284"/>
                  <a:pt x="4234543" y="198241"/>
                </a:cubicBezTo>
                <a:cubicBezTo>
                  <a:pt x="4486729" y="-35802"/>
                  <a:pt x="4419600" y="2298"/>
                  <a:pt x="4419600" y="2298"/>
                </a:cubicBezTo>
                <a:lnTo>
                  <a:pt x="4419600" y="2298"/>
                </a:lnTo>
              </a:path>
            </a:pathLst>
          </a:cu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6">
                <a:extLst>
                  <a:ext uri="{FF2B5EF4-FFF2-40B4-BE49-F238E27FC236}">
                    <a16:creationId xmlns:a16="http://schemas.microsoft.com/office/drawing/2014/main" id="{D03F9AC4-14F8-D3B9-DEBB-50877056960B}"/>
                  </a:ext>
                </a:extLst>
              </p:cNvPr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431800" y="1916114"/>
                <a:ext cx="5562600" cy="23500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CH" sz="2000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it-CH" sz="2000" dirty="0"/>
                  <a:t>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training dataset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sz="2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CH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CH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it-CH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CH" sz="2000" dirty="0"/>
                  <a:t>            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model structure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CH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it-CH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CH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CH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it-CH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it-CH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it-CH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it-CH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it-CH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it-CH" sz="2000" dirty="0"/>
                  <a:t>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loss (MSE)</a:t>
                </a:r>
              </a:p>
              <a:p>
                <a:endParaRPr lang="it-CH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CasellaDiTesto 6">
                <a:extLst>
                  <a:ext uri="{FF2B5EF4-FFF2-40B4-BE49-F238E27FC236}">
                    <a16:creationId xmlns:a16="http://schemas.microsoft.com/office/drawing/2014/main" id="{D03F9AC4-14F8-D3B9-DEBB-50877056960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31800" y="1916114"/>
                <a:ext cx="5562600" cy="2350002"/>
              </a:xfrm>
              <a:prstGeom prst="rect">
                <a:avLst/>
              </a:prstGeom>
              <a:blipFill>
                <a:blip r:embed="rId3"/>
                <a:stretch>
                  <a:fillRect l="-2283" t="-2151" b="-967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9">
                <a:extLst>
                  <a:ext uri="{FF2B5EF4-FFF2-40B4-BE49-F238E27FC236}">
                    <a16:creationId xmlns:a16="http://schemas.microsoft.com/office/drawing/2014/main" id="{7382CDE9-83B9-C0BC-6E74-D6AA17E735FE}"/>
                  </a:ext>
                </a:extLst>
              </p:cNvPr>
              <p:cNvSpPr txBox="1"/>
              <p:nvPr/>
            </p:nvSpPr>
            <p:spPr>
              <a:xfrm>
                <a:off x="1211267" y="4290607"/>
                <a:ext cx="4131470" cy="56092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CH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CH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CH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CH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CH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CH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CasellaDiTesto 9">
                <a:extLst>
                  <a:ext uri="{FF2B5EF4-FFF2-40B4-BE49-F238E27FC236}">
                    <a16:creationId xmlns:a16="http://schemas.microsoft.com/office/drawing/2014/main" id="{7382CDE9-83B9-C0BC-6E74-D6AA17E73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267" y="4290607"/>
                <a:ext cx="4131470" cy="560923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B8C780A-7AAE-0249-6918-7245290607C0}"/>
              </a:ext>
            </a:extLst>
          </p:cNvPr>
          <p:cNvSpPr txBox="1"/>
          <p:nvPr/>
        </p:nvSpPr>
        <p:spPr bwMode="auto">
          <a:xfrm>
            <a:off x="407368" y="5157192"/>
            <a:ext cx="6912768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20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Expressive model structures like neural networks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20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Iterative optimization, often gradient-based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20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Efficient software for automatic differentiation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CH" sz="20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46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8001-5870-C067-5D63-021AC3D3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Feed-Forward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94E8-E0A0-A574-4988-F87A35FAFA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It is just a particular model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56153-9458-D55F-8AD0-96CB5CBD3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780" y="1844676"/>
            <a:ext cx="5562600" cy="4321175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 </a:t>
            </a: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AF128F4C-A6AD-1947-5340-E36D1C0A15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05" y="2745167"/>
            <a:ext cx="4253600" cy="2370244"/>
          </a:xfrm>
          <a:prstGeom prst="rect">
            <a:avLst/>
          </a:prstGeom>
        </p:spPr>
      </p:pic>
      <p:sp>
        <p:nvSpPr>
          <p:cNvPr id="17" name="Parentesi graffa aperta 8">
            <a:extLst>
              <a:ext uri="{FF2B5EF4-FFF2-40B4-BE49-F238E27FC236}">
                <a16:creationId xmlns:a16="http://schemas.microsoft.com/office/drawing/2014/main" id="{61F39866-80C7-32E8-38DD-652A2C48CCBA}"/>
              </a:ext>
            </a:extLst>
          </p:cNvPr>
          <p:cNvSpPr/>
          <p:nvPr/>
        </p:nvSpPr>
        <p:spPr>
          <a:xfrm>
            <a:off x="715787" y="2760550"/>
            <a:ext cx="420316" cy="190795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asellaDiTesto 9">
            <a:extLst>
              <a:ext uri="{FF2B5EF4-FFF2-40B4-BE49-F238E27FC236}">
                <a16:creationId xmlns:a16="http://schemas.microsoft.com/office/drawing/2014/main" id="{D1EB62CC-2889-E622-B148-F522BE9B0CA3}"/>
              </a:ext>
            </a:extLst>
          </p:cNvPr>
          <p:cNvSpPr txBox="1"/>
          <p:nvPr/>
        </p:nvSpPr>
        <p:spPr>
          <a:xfrm rot="16200000">
            <a:off x="309777" y="3602386"/>
            <a:ext cx="521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Input</a:t>
            </a:r>
          </a:p>
        </p:txBody>
      </p:sp>
      <p:sp>
        <p:nvSpPr>
          <p:cNvPr id="21" name="CasellaDiTesto 10 1">
            <a:extLst>
              <a:ext uri="{FF2B5EF4-FFF2-40B4-BE49-F238E27FC236}">
                <a16:creationId xmlns:a16="http://schemas.microsoft.com/office/drawing/2014/main" id="{98160406-2113-9488-5376-A17645707A84}"/>
              </a:ext>
            </a:extLst>
          </p:cNvPr>
          <p:cNvSpPr txBox="1"/>
          <p:nvPr/>
        </p:nvSpPr>
        <p:spPr>
          <a:xfrm>
            <a:off x="1857917" y="2489861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Hidden Layer 1</a:t>
            </a:r>
          </a:p>
        </p:txBody>
      </p:sp>
      <p:sp>
        <p:nvSpPr>
          <p:cNvPr id="22" name="Parentesi graffa aperta 12">
            <a:extLst>
              <a:ext uri="{FF2B5EF4-FFF2-40B4-BE49-F238E27FC236}">
                <a16:creationId xmlns:a16="http://schemas.microsoft.com/office/drawing/2014/main" id="{09E6F49F-8BBF-9C99-18D5-5149C10CCFC0}"/>
              </a:ext>
            </a:extLst>
          </p:cNvPr>
          <p:cNvSpPr/>
          <p:nvPr/>
        </p:nvSpPr>
        <p:spPr>
          <a:xfrm rot="5400000">
            <a:off x="2221157" y="2654398"/>
            <a:ext cx="344695" cy="557000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Parentesi graffa aperta 17">
            <a:extLst>
              <a:ext uri="{FF2B5EF4-FFF2-40B4-BE49-F238E27FC236}">
                <a16:creationId xmlns:a16="http://schemas.microsoft.com/office/drawing/2014/main" id="{171715F1-62B1-B2C2-C375-04E04BEFB088}"/>
              </a:ext>
            </a:extLst>
          </p:cNvPr>
          <p:cNvSpPr/>
          <p:nvPr/>
        </p:nvSpPr>
        <p:spPr>
          <a:xfrm rot="5400000">
            <a:off x="3425662" y="2805792"/>
            <a:ext cx="344695" cy="557000"/>
          </a:xfrm>
          <a:prstGeom prst="lef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CasellaDiTesto 10 2">
            <a:extLst>
              <a:ext uri="{FF2B5EF4-FFF2-40B4-BE49-F238E27FC236}">
                <a16:creationId xmlns:a16="http://schemas.microsoft.com/office/drawing/2014/main" id="{34CCE346-CE06-7AA3-6E20-9A1651EBBC52}"/>
              </a:ext>
            </a:extLst>
          </p:cNvPr>
          <p:cNvSpPr txBox="1"/>
          <p:nvPr/>
        </p:nvSpPr>
        <p:spPr>
          <a:xfrm>
            <a:off x="3138128" y="2645792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Hidden Layer 2</a:t>
            </a:r>
          </a:p>
        </p:txBody>
      </p:sp>
      <p:sp>
        <p:nvSpPr>
          <p:cNvPr id="30" name="Parentesi graffa aperta 20">
            <a:extLst>
              <a:ext uri="{FF2B5EF4-FFF2-40B4-BE49-F238E27FC236}">
                <a16:creationId xmlns:a16="http://schemas.microsoft.com/office/drawing/2014/main" id="{D30B3BC0-E4F1-ACA1-800A-AE72F256280A}"/>
              </a:ext>
            </a:extLst>
          </p:cNvPr>
          <p:cNvSpPr/>
          <p:nvPr/>
        </p:nvSpPr>
        <p:spPr>
          <a:xfrm rot="5400000">
            <a:off x="4626457" y="3205158"/>
            <a:ext cx="344695" cy="557000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CasellaDiTesto 10 3">
            <a:extLst>
              <a:ext uri="{FF2B5EF4-FFF2-40B4-BE49-F238E27FC236}">
                <a16:creationId xmlns:a16="http://schemas.microsoft.com/office/drawing/2014/main" id="{E604CF1E-05F5-0E80-DCB3-55831AF0E21D}"/>
              </a:ext>
            </a:extLst>
          </p:cNvPr>
          <p:cNvSpPr txBox="1"/>
          <p:nvPr/>
        </p:nvSpPr>
        <p:spPr>
          <a:xfrm>
            <a:off x="4396513" y="3054301"/>
            <a:ext cx="656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Output</a:t>
            </a:r>
          </a:p>
        </p:txBody>
      </p:sp>
      <p:pic>
        <p:nvPicPr>
          <p:cNvPr id="6" name="Picture 5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13589F3-1DC2-9E1D-BB0C-8B25715A51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88088" y="1908674"/>
            <a:ext cx="2323590" cy="767427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D923469-399B-F4E8-199D-9CA4E0E24A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88088" y="2871249"/>
            <a:ext cx="2323591" cy="767427"/>
          </a:xfrm>
          <a:prstGeom prst="rect">
            <a:avLst/>
          </a:prstGeom>
        </p:spPr>
      </p:pic>
      <p:pic>
        <p:nvPicPr>
          <p:cNvPr id="10" name="Picture 9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F829E5A-3D8C-4558-25B5-99921DD620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78566" y="3833271"/>
            <a:ext cx="2238322" cy="66084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definecolor{dgreen}{RGB}{0,100,0}&#10;\begin{document}&#10;&#10;\begin{align*}&#10;\textcolor{dyel}{y} = W_3\sigma\big(W_2\sigma(W_1 x + b_1)+ b_2\big) + b_3 = \mathrm{FF}(x;\theta)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35BCA1F8-6612-5629-EF41-8F107FD30E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878083" y="4671896"/>
            <a:ext cx="4391375" cy="25581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F7F5295-ABF5-C88A-DA29-8AF310E60E02}"/>
              </a:ext>
            </a:extLst>
          </p:cNvPr>
          <p:cNvSpPr txBox="1"/>
          <p:nvPr/>
        </p:nvSpPr>
        <p:spPr bwMode="auto">
          <a:xfrm>
            <a:off x="455620" y="5744836"/>
            <a:ext cx="766876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For regression, the output equation is typically linear (no activation function)</a:t>
            </a:r>
          </a:p>
        </p:txBody>
      </p:sp>
      <p:pic>
        <p:nvPicPr>
          <p:cNvPr id="39" name="Picture 38" descr="A picture containing chart&#10;&#10;Description automatically generated">
            <a:extLst>
              <a:ext uri="{FF2B5EF4-FFF2-40B4-BE49-F238E27FC236}">
                <a16:creationId xmlns:a16="http://schemas.microsoft.com/office/drawing/2014/main" id="{955EF848-7659-A3D2-0BFC-BD9E8173CC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2875" y="4512525"/>
            <a:ext cx="1549033" cy="767639"/>
          </a:xfrm>
          <a:prstGeom prst="rect">
            <a:avLst/>
          </a:prstGeom>
          <a:ln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67B1FE4-F292-BF3E-74C4-165DFE219628}"/>
              </a:ext>
            </a:extLst>
          </p:cNvPr>
          <p:cNvSpPr/>
          <p:nvPr/>
        </p:nvSpPr>
        <p:spPr>
          <a:xfrm>
            <a:off x="4436755" y="4587367"/>
            <a:ext cx="288032" cy="162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" name="Isosceles Triangle 24">
            <a:extLst>
              <a:ext uri="{FF2B5EF4-FFF2-40B4-BE49-F238E27FC236}">
                <a16:creationId xmlns:a16="http://schemas.microsoft.com/office/drawing/2014/main" id="{C4E45C51-A5B0-4EEE-8BEF-5455DA5A05BF}"/>
              </a:ext>
            </a:extLst>
          </p:cNvPr>
          <p:cNvSpPr/>
          <p:nvPr/>
        </p:nvSpPr>
        <p:spPr>
          <a:xfrm rot="16200000">
            <a:off x="2551881" y="4508279"/>
            <a:ext cx="896357" cy="794837"/>
          </a:xfrm>
          <a:prstGeom prst="triangle">
            <a:avLst>
              <a:gd name="adj" fmla="val 49470"/>
            </a:avLst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20" name="Picture 19" descr="\documentclass{article}&#10;\usepackage{amsmath}&#10;\usepackage{amsfonts}&#10;\usepackage{color}&#10;\newcommand{\red}[1]{{\color{red}#1}}&#10;&#10;\pagestyle{empty}&#10;&#10;\begin{document}&#10;&#10;$$&#10;\sigma(\cdot)&#10;$$&#10;&#10;\end{document}" title="IguanaTex Bitmap Display">
            <a:extLst>
              <a:ext uri="{FF2B5EF4-FFF2-40B4-BE49-F238E27FC236}">
                <a16:creationId xmlns:a16="http://schemas.microsoft.com/office/drawing/2014/main" id="{D8468A0B-34D8-D2C2-0406-DB7CDF86859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491455" y="4584406"/>
            <a:ext cx="233332" cy="15555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303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02FE-A70C-AA6C-B353-AB980591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Gradient Descent</a:t>
            </a:r>
          </a:p>
        </p:txBody>
      </p:sp>
      <p:pic>
        <p:nvPicPr>
          <p:cNvPr id="5" name="Immagine 2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&#10;\begin{enumerate}&#10;    \item \textbf{Initialize Parameters}: $\theta^{(0)}$&#10;    &#10;    \item \textbf{for $k=0,1,\ldots$}: \textbf{until} maximum number of iterations or   convergence \textbf{do}:&#10;    \begin{enumerate}&#10;        \item \textbf{Compute Gradient}: $\nabla_\theta \mathcal{L}(\theta^{(k)})$ &#10;        &#10;        \item \textbf{Update Parameters}: &#10;        \[ \theta^{(k+1)} = \theta^{(k)} - \gamma \cdot \nabla_\theta \mathcal{L}(\theta^{(k)}) \]&#10;    \end{enumerate}&#10;\end{enumerate}&#10;&#10;\end{document}&#10;&#10;&#10;&#10;&#10;\end{document}" title="IguanaTex Bitmap Display">
            <a:extLst>
              <a:ext uri="{FF2B5EF4-FFF2-40B4-BE49-F238E27FC236}">
                <a16:creationId xmlns:a16="http://schemas.microsoft.com/office/drawing/2014/main" id="{62248E98-A36C-D6B0-6E28-BD3BEC5828DB}"/>
              </a:ext>
            </a:extLst>
          </p:cNvPr>
          <p:cNvPicPr>
            <a:picLocks noGrp="1"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2204864"/>
            <a:ext cx="7214784" cy="1944216"/>
          </a:xfrm>
          <a:prstGeom prst="rect">
            <a:avLst/>
          </a:prstGeom>
        </p:spPr>
      </p:pic>
      <p:pic>
        <p:nvPicPr>
          <p:cNvPr id="6" name="Immagine 3" descr="Immagine che contiene diagramma, disegno, design&#10;&#10;Descrizione generata automaticamente">
            <a:extLst>
              <a:ext uri="{FF2B5EF4-FFF2-40B4-BE49-F238E27FC236}">
                <a16:creationId xmlns:a16="http://schemas.microsoft.com/office/drawing/2014/main" id="{D0FA9C8B-D86C-38EA-CC28-DCD73AFA52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0" r="10297"/>
          <a:stretch/>
        </p:blipFill>
        <p:spPr>
          <a:xfrm>
            <a:off x="8112224" y="1484784"/>
            <a:ext cx="2905069" cy="304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B8C405-93FC-F38D-D463-5B958359D850}"/>
              </a:ext>
            </a:extLst>
          </p:cNvPr>
          <p:cNvSpPr txBox="1"/>
          <p:nvPr/>
        </p:nvSpPr>
        <p:spPr bwMode="auto">
          <a:xfrm>
            <a:off x="431800" y="5261563"/>
            <a:ext cx="10283700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Mini-batching: at each iteration, compute loss &amp; gradients on a subset of the dataset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ea typeface="ＭＳ Ｐゴシック" pitchFamily="-112" charset="-128"/>
                <a:cs typeface="ＭＳ Ｐゴシック" pitchFamily="-112" charset="-128"/>
              </a:rPr>
              <a:t>Variants of plain gradient descent like Adam are more common</a:t>
            </a: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Second-order methods like (L)-BFGS also possible for small/medium-scale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46594-1810-E67E-CDEF-AFEDBB4FE6D9}"/>
              </a:ext>
            </a:extLst>
          </p:cNvPr>
          <p:cNvSpPr txBox="1"/>
          <p:nvPr/>
        </p:nvSpPr>
        <p:spPr bwMode="auto">
          <a:xfrm>
            <a:off x="263352" y="4443202"/>
            <a:ext cx="84249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Local convergence to one of the several minima is OK!</a:t>
            </a:r>
          </a:p>
        </p:txBody>
      </p:sp>
    </p:spTree>
    <p:extLst>
      <p:ext uri="{BB962C8B-B14F-4D97-AF65-F5344CB8AC3E}">
        <p14:creationId xmlns:p14="http://schemas.microsoft.com/office/powerpoint/2010/main" val="427092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F9FC-F866-BB65-58D8-D66B45F3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synthetic toy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5CF2-6073-6C99-1D2C-B5E2D56EC1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2D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Training and test datasets: 500 points uniformly sampled in the domain.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Additive noise with standard deviation 0.1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5" name="Picture 14" descr="\documentclass{article}&#10;\usepackage{amsmath}&#10;\usepackage{amsfonts}&#10;&#10;\pagestyle{empty}&#10;&#10;\begin{document}&#10;&#10;% $$f : \mathbb{R}^2 \rightarrow \mathbb{R}; \qquad x \rightarrow 2\sin (x_1) - 3\cos (x_2)$$&#10;&#10;$$ f(x) = 2\sin (x_1) - 3\cos (x_2) $$&#10;$$ x \in [-2, 2]^2 \subset \mathbb{R}^2$$&#10;&#10;\end{document}" title="IguanaTex Bitmap Display">
            <a:extLst>
              <a:ext uri="{FF2B5EF4-FFF2-40B4-BE49-F238E27FC236}">
                <a16:creationId xmlns:a16="http://schemas.microsoft.com/office/drawing/2014/main" id="{80CC267D-3EC5-EA07-1A32-744B63959D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8484" y="2564904"/>
            <a:ext cx="2880320" cy="683466"/>
          </a:xfrm>
          <a:prstGeom prst="rect">
            <a:avLst/>
          </a:prstGeom>
        </p:spPr>
      </p:pic>
      <p:pic>
        <p:nvPicPr>
          <p:cNvPr id="29" name="Picture 28" descr="\documentclass{article}&#10;\usepackage{amsmath}&#10;\usepackage{amsfonts}&#10;&#10;\pagestyle{empty}&#10;&#10;\begin{document}&#10;&#10;\begin{equation*}&#10;f : \mathbb{R}^2 \rightarrow \mathbb{R}&#10;\end{equation*}&#10;&#10;\end{document}" title="IguanaTex Bitmap Display">
            <a:extLst>
              <a:ext uri="{FF2B5EF4-FFF2-40B4-BE49-F238E27FC236}">
                <a16:creationId xmlns:a16="http://schemas.microsoft.com/office/drawing/2014/main" id="{01ED47AF-BE2A-E7E9-9716-0E6F20B51B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43672" y="1916114"/>
            <a:ext cx="1219200" cy="279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32B98A-5FA7-9C26-A837-54245EF6E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676" y="1628800"/>
            <a:ext cx="3600400" cy="372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04E7-0721-7149-948A-85259177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29" y="514376"/>
            <a:ext cx="11328400" cy="719137"/>
          </a:xfrm>
        </p:spPr>
        <p:txBody>
          <a:bodyPr/>
          <a:lstStyle/>
          <a:p>
            <a:r>
              <a:rPr lang="en-CH" dirty="0"/>
              <a:t>Feed-forward neural network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4D8950-C0BF-A6A6-09C7-4106EAE27F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456040" y="1342960"/>
            <a:ext cx="4807663" cy="489432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7F13347-09B8-E160-C192-94DD0224C3C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3665" y="1136835"/>
                <a:ext cx="5736208" cy="4321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xmlns="" val="1"/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  <a:cs typeface="ＭＳ Ｐゴシック" pitchFamily="-112" charset="-128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112" charset="-128"/>
                  </a:defRPr>
                </a:lvl9pPr>
              </a:lstStyle>
              <a:p>
                <a:r>
                  <a:rPr lang="en-US" kern="0" dirty="0"/>
                  <a:t>2 inputs, 1 output - this is the structure of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kern="0" dirty="0"/>
              </a:p>
              <a:p>
                <a:r>
                  <a:rPr lang="en-US" kern="0" dirty="0"/>
                  <a:t>2 hidden layers with [16, 8] neurons</a:t>
                </a:r>
              </a:p>
              <a:p>
                <a:r>
                  <a:rPr lang="en-US" kern="0" dirty="0"/>
                  <a:t>tanh non-linearities</a:t>
                </a:r>
              </a:p>
              <a:p>
                <a:pPr marL="0" indent="0">
                  <a:buNone/>
                </a:pPr>
                <a:endParaRPr lang="en-US" kern="0" dirty="0"/>
              </a:p>
              <a:p>
                <a:pPr marL="0" indent="0">
                  <a:buNone/>
                </a:pPr>
                <a:r>
                  <a:rPr lang="en-US" kern="0" dirty="0"/>
                  <a:t>Training with 5000 iterations of Adam…</a:t>
                </a:r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r>
                  <a:rPr lang="en-US" kern="0" dirty="0"/>
                  <a:t>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97F13347-09B8-E160-C192-94DD0224C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665" y="1136835"/>
                <a:ext cx="5736208" cy="4321175"/>
              </a:xfrm>
              <a:prstGeom prst="rect">
                <a:avLst/>
              </a:prstGeom>
              <a:blipFill>
                <a:blip r:embed="rId5"/>
                <a:stretch>
                  <a:fillRect l="-2428" t="-14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="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A picture containing chart&#10;&#10;Description automatically generated">
            <a:extLst>
              <a:ext uri="{FF2B5EF4-FFF2-40B4-BE49-F238E27FC236}">
                <a16:creationId xmlns:a16="http://schemas.microsoft.com/office/drawing/2014/main" id="{C9EC537F-D1C5-9BBC-10B7-32B245F7D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8288" y="716309"/>
            <a:ext cx="1697177" cy="841053"/>
          </a:xfrm>
          <a:prstGeom prst="rect">
            <a:avLst/>
          </a:prstGeom>
        </p:spPr>
      </p:pic>
      <p:sp>
        <p:nvSpPr>
          <p:cNvPr id="21" name="Isosceles Triangle 24">
            <a:extLst>
              <a:ext uri="{FF2B5EF4-FFF2-40B4-BE49-F238E27FC236}">
                <a16:creationId xmlns:a16="http://schemas.microsoft.com/office/drawing/2014/main" id="{70B74A45-9947-2966-FE8C-6778609000ED}"/>
              </a:ext>
            </a:extLst>
          </p:cNvPr>
          <p:cNvSpPr/>
          <p:nvPr/>
        </p:nvSpPr>
        <p:spPr>
          <a:xfrm rot="10800000">
            <a:off x="8976320" y="1628800"/>
            <a:ext cx="896357" cy="794837"/>
          </a:xfrm>
          <a:prstGeom prst="triangle">
            <a:avLst>
              <a:gd name="adj" fmla="val 4947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6" name="Picture 5" descr="\documentclass{article}&#10;\usepackage{amsmath}&#10;\usepackage{amsfonts}&#10;&#10;\pagestyle{empty}&#10;&#10;\begin{document}&#10;&#10;\begin{equation*}&#10;x&#10;\end{equation*}&#10;&#10;\end{document}" title="IguanaTex Bitmap Display">
            <a:extLst>
              <a:ext uri="{FF2B5EF4-FFF2-40B4-BE49-F238E27FC236}">
                <a16:creationId xmlns:a16="http://schemas.microsoft.com/office/drawing/2014/main" id="{D07E7997-71F3-377E-3C4A-6A76D38D61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45643" y="3573016"/>
            <a:ext cx="127000" cy="12700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amsfonts}&#10;&#10;\pagestyle{empty}&#10;&#10;\begin{document}&#10;&#10;\begin{equation*}&#10;\hat y&#10;\end{equation*}&#10;&#10;\end{document}" title="IguanaTex Bitmap Display">
            <a:extLst>
              <a:ext uri="{FF2B5EF4-FFF2-40B4-BE49-F238E27FC236}">
                <a16:creationId xmlns:a16="http://schemas.microsoft.com/office/drawing/2014/main" id="{81D1E45A-15CC-DA32-4C75-81369A6D41E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920536" y="3522216"/>
            <a:ext cx="127000" cy="22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1884D7-92E6-6EB3-D179-288CFA794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253" y="2780928"/>
            <a:ext cx="3883844" cy="31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5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B37C-6113-EED2-058E-0505CCF5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77" y="392543"/>
            <a:ext cx="11328400" cy="719137"/>
          </a:xfrm>
        </p:spPr>
        <p:txBody>
          <a:bodyPr/>
          <a:lstStyle/>
          <a:p>
            <a:r>
              <a:rPr lang="en-CH" kern="0" dirty="0"/>
              <a:t>Model evaluation</a:t>
            </a:r>
            <a:endParaRPr lang="en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249AE-A792-8844-978A-35D4858B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78547" y="1268760"/>
            <a:ext cx="2580692" cy="2019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D232C-CB44-6982-EE87-9F0059826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3177" y="1199843"/>
            <a:ext cx="2854410" cy="2383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447361-1382-758F-863C-EF6F4421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382" y="3762610"/>
            <a:ext cx="2663966" cy="249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D11E5-2088-AE16-D69D-7AF3CF055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12" y="3808920"/>
            <a:ext cx="2663965" cy="24913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E5B0C4-5B6B-65BD-FC4E-71A373CD028A}"/>
              </a:ext>
            </a:extLst>
          </p:cNvPr>
          <p:cNvSpPr txBox="1">
            <a:spLocks/>
          </p:cNvSpPr>
          <p:nvPr/>
        </p:nvSpPr>
        <p:spPr bwMode="auto">
          <a:xfrm>
            <a:off x="421091" y="1274242"/>
            <a:ext cx="5566099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  <a:cs typeface="ＭＳ Ｐゴシック" pitchFamily="-112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9pPr>
          </a:lstStyle>
          <a:p>
            <a:pPr marL="0" indent="0">
              <a:buNone/>
            </a:pPr>
            <a:r>
              <a:rPr lang="en-US" kern="0" dirty="0"/>
              <a:t>It is common to inspect on the test dataset:</a:t>
            </a:r>
          </a:p>
          <a:p>
            <a:pPr marL="0" indent="0">
              <a:buNone/>
            </a:pPr>
            <a:endParaRPr lang="en-US" kern="0" dirty="0"/>
          </a:p>
          <a:p>
            <a:r>
              <a:rPr lang="en-US" kern="0" dirty="0"/>
              <a:t>Predictions and residuals vs measured y (left)</a:t>
            </a:r>
          </a:p>
          <a:p>
            <a:r>
              <a:rPr lang="en-US" kern="0" dirty="0"/>
              <a:t>Histogram of residuals (right)</a:t>
            </a:r>
          </a:p>
          <a:p>
            <a:r>
              <a:rPr lang="en-US" kern="0" dirty="0"/>
              <a:t>Keep on following good statistical practices!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In this toy example, we can do more:</a:t>
            </a:r>
          </a:p>
          <a:p>
            <a:r>
              <a:rPr lang="en-US" kern="0" dirty="0"/>
              <a:t>Input is 2D. We can visualize the learned function over a grid (left)</a:t>
            </a:r>
          </a:p>
          <a:p>
            <a:r>
              <a:rPr lang="en-US" kern="0" dirty="0"/>
              <a:t>The true function is known. We can also visualize it in 2D (right)</a:t>
            </a:r>
          </a:p>
          <a:p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r>
              <a:rPr lang="en-US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55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12AEEC-28A5-C1FD-33A5-F741B79C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692D-A23B-B33D-8076-3B87B282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77" y="392543"/>
            <a:ext cx="11328400" cy="719137"/>
          </a:xfrm>
        </p:spPr>
        <p:txBody>
          <a:bodyPr/>
          <a:lstStyle/>
          <a:p>
            <a:r>
              <a:rPr lang="en-CH" kern="0" dirty="0"/>
              <a:t>Deep Learning for System Identification</a:t>
            </a:r>
            <a:endParaRPr lang="en-CH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EC6AD1-C0FC-32A3-9ECD-07E3E9F8BA1D}"/>
              </a:ext>
            </a:extLst>
          </p:cNvPr>
          <p:cNvSpPr txBox="1">
            <a:spLocks/>
          </p:cNvSpPr>
          <p:nvPr/>
        </p:nvSpPr>
        <p:spPr bwMode="auto">
          <a:xfrm>
            <a:off x="421091" y="1274242"/>
            <a:ext cx="9995389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  <a:cs typeface="ＭＳ Ｐゴシック" pitchFamily="-112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9pPr>
          </a:lstStyle>
          <a:p>
            <a:r>
              <a:rPr lang="en-US" kern="0" dirty="0"/>
              <a:t>Feed-forward nets fed by lagged input/outputs are directly applicable for NARX regression</a:t>
            </a:r>
          </a:p>
          <a:p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r>
              <a:rPr lang="en-US" kern="0" dirty="0"/>
              <a:t>State-space models with neural-network update/output maps:</a:t>
            </a:r>
          </a:p>
          <a:p>
            <a:pPr lvl="1"/>
            <a:r>
              <a:rPr lang="en-US" kern="0" dirty="0"/>
              <a:t>Also known as Recurrent Neural Networks</a:t>
            </a:r>
          </a:p>
          <a:p>
            <a:pPr lvl="1"/>
            <a:endParaRPr lang="en-US" kern="0" dirty="0"/>
          </a:p>
          <a:p>
            <a:pPr lvl="1"/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r>
              <a:rPr lang="en-US" kern="0" dirty="0"/>
              <a:t> </a:t>
            </a:r>
          </a:p>
        </p:txBody>
      </p:sp>
      <p:pic>
        <p:nvPicPr>
          <p:cNvPr id="22" name="Picture 2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hat{y}(k) &amp;=  \mathrm{FF}\big(&#10;\overbrace{&#10;y(k-1),  \ldots, y(k-n_a), u(k),  u(k-1), \ldots,  u(k-n_b-1)&#10;}^{=x(k)}&#10;; {\theta}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B0D048E-9936-BDC8-D973-3CE6BC3750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19885" y="1772816"/>
            <a:ext cx="9357357" cy="822960"/>
          </a:xfrm>
          <a:prstGeom prst="rect">
            <a:avLst/>
          </a:prstGeom>
        </p:spPr>
      </p:pic>
      <p:pic>
        <p:nvPicPr>
          <p:cNvPr id="26" name="Picture 25" descr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{k+1}) &amp;= \mathrm{FF}_x(x(k), u(k); \theta) \\&#10;y(k) &amp;= \mathrm{FF}_y(x(k); \theta)&#10;\end{align*}&#10;&#10;\end{document}" title="IguanaTex Bitmap Display">
            <a:extLst>
              <a:ext uri="{FF2B5EF4-FFF2-40B4-BE49-F238E27FC236}">
                <a16:creationId xmlns:a16="http://schemas.microsoft.com/office/drawing/2014/main" id="{A762EB67-BA8C-13E6-F98D-7995A978B7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75720" y="4149080"/>
            <a:ext cx="3840480" cy="79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5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D1BAB9-6DF4-8192-33A7-CCE908A9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D29A-76C9-2E7C-6661-5E795955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77" y="392543"/>
            <a:ext cx="11328400" cy="719137"/>
          </a:xfrm>
        </p:spPr>
        <p:txBody>
          <a:bodyPr/>
          <a:lstStyle/>
          <a:p>
            <a:r>
              <a:rPr lang="en-CH" kern="0" dirty="0"/>
              <a:t>What we won’t cover</a:t>
            </a:r>
            <a:endParaRPr lang="en-CH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29F1414-EAB3-963B-21E1-273ACB01CC5F}"/>
              </a:ext>
            </a:extLst>
          </p:cNvPr>
          <p:cNvSpPr txBox="1">
            <a:spLocks/>
          </p:cNvSpPr>
          <p:nvPr/>
        </p:nvSpPr>
        <p:spPr bwMode="auto">
          <a:xfrm>
            <a:off x="421091" y="1274242"/>
            <a:ext cx="9995389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  <a:cs typeface="ＭＳ Ｐゴシック" pitchFamily="-112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9pPr>
          </a:lstStyle>
          <a:p>
            <a:r>
              <a:rPr lang="en-US" kern="0" dirty="0"/>
              <a:t>Advanced architectures</a:t>
            </a:r>
          </a:p>
          <a:p>
            <a:pPr lvl="1"/>
            <a:r>
              <a:rPr lang="en-US" kern="0" dirty="0"/>
              <a:t>physics-informed</a:t>
            </a:r>
          </a:p>
          <a:p>
            <a:pPr lvl="1"/>
            <a:r>
              <a:rPr lang="en-US" kern="0" dirty="0"/>
              <a:t>grounded on system theory (e.g., stable by design)</a:t>
            </a:r>
          </a:p>
          <a:p>
            <a:pPr lvl="1"/>
            <a:r>
              <a:rPr lang="en-US" kern="0" dirty="0"/>
              <a:t>transformers, diffusion, foundation models </a:t>
            </a:r>
          </a:p>
          <a:p>
            <a:pPr lvl="1"/>
            <a:endParaRPr lang="en-US" kern="0" dirty="0"/>
          </a:p>
          <a:p>
            <a:r>
              <a:rPr lang="en-US" kern="0" dirty="0"/>
              <a:t>Optimization</a:t>
            </a:r>
          </a:p>
          <a:p>
            <a:pPr lvl="1"/>
            <a:r>
              <a:rPr lang="en-US" kern="0" dirty="0"/>
              <a:t>mini-batching (to handle large datasets)</a:t>
            </a:r>
          </a:p>
          <a:p>
            <a:pPr lvl="1"/>
            <a:r>
              <a:rPr lang="en-US" kern="0" dirty="0"/>
              <a:t>second-order, non-smooth, constrained…</a:t>
            </a:r>
          </a:p>
          <a:p>
            <a:pPr lvl="1"/>
            <a:r>
              <a:rPr lang="en-US" kern="0" dirty="0"/>
              <a:t>automatic differentiation details</a:t>
            </a:r>
          </a:p>
          <a:p>
            <a:pPr lvl="1"/>
            <a:endParaRPr lang="en-US" kern="0" dirty="0"/>
          </a:p>
          <a:p>
            <a:r>
              <a:rPr lang="en-US" kern="0" dirty="0"/>
              <a:t>Theoretical aspects</a:t>
            </a:r>
          </a:p>
          <a:p>
            <a:pPr lvl="1"/>
            <a:r>
              <a:rPr lang="en-US" kern="0" dirty="0"/>
              <a:t>learning theory</a:t>
            </a:r>
          </a:p>
          <a:p>
            <a:pPr lvl="1"/>
            <a:r>
              <a:rPr lang="en-US" kern="0" dirty="0"/>
              <a:t>uncertainty quantification</a:t>
            </a:r>
          </a:p>
          <a:p>
            <a:pPr lvl="1"/>
            <a:r>
              <a:rPr lang="en-US" kern="0" dirty="0"/>
              <a:t>…</a:t>
            </a:r>
          </a:p>
          <a:p>
            <a:pPr lvl="1"/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endParaRPr lang="en-US" kern="0" dirty="0"/>
          </a:p>
          <a:p>
            <a:pPr marL="0" indent="0">
              <a:buFontTx/>
              <a:buNone/>
            </a:pPr>
            <a:r>
              <a:rPr lang="en-US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84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BA5DF8-92E0-EDC8-F118-27B5B116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0B4C-E69F-6BC3-FF88-3CA89A82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77" y="392543"/>
            <a:ext cx="11328400" cy="719137"/>
          </a:xfrm>
        </p:spPr>
        <p:txBody>
          <a:bodyPr/>
          <a:lstStyle/>
          <a:p>
            <a:r>
              <a:rPr lang="en-CH" kern="0" dirty="0"/>
              <a:t>Software for Deep Learning</a:t>
            </a:r>
            <a:endParaRPr lang="en-CH" dirty="0"/>
          </a:p>
        </p:txBody>
      </p:sp>
      <p:pic>
        <p:nvPicPr>
          <p:cNvPr id="1032" name="Picture 8" descr="Pytorch logo - Free Icon PNG, SVG">
            <a:extLst>
              <a:ext uri="{FF2B5EF4-FFF2-40B4-BE49-F238E27FC236}">
                <a16:creationId xmlns:a16="http://schemas.microsoft.com/office/drawing/2014/main" id="{805585A0-A3EB-E59D-E876-9076A4FD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54" y="2132856"/>
            <a:ext cx="2304256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2D795-F833-BEA3-5393-A5278F0C3F90}"/>
              </a:ext>
            </a:extLst>
          </p:cNvPr>
          <p:cNvSpPr txBox="1"/>
          <p:nvPr/>
        </p:nvSpPr>
        <p:spPr bwMode="auto">
          <a:xfrm>
            <a:off x="520700" y="1238250"/>
            <a:ext cx="874365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An essential aspect is the software implementation. Non-exaustive options are:</a:t>
            </a: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ea typeface="ＭＳ Ｐゴシック" pitchFamily="-112" charset="-128"/>
                <a:cs typeface="ＭＳ Ｐゴシック" pitchFamily="-112" charset="-128"/>
              </a:rPr>
              <a:t>PyTorch and Jax: libraries on top of Python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ea typeface="ＭＳ Ｐゴシック" pitchFamily="-112" charset="-128"/>
                <a:cs typeface="ＭＳ Ｐゴシック" pitchFamily="-112" charset="-128"/>
              </a:rPr>
              <a:t>Julia: programming  language focused on numerical computations</a:t>
            </a:r>
          </a:p>
          <a:p>
            <a: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H" sz="1800" kern="0" dirty="0">
                <a:ea typeface="ＭＳ Ｐゴシック" pitchFamily="-112" charset="-128"/>
                <a:cs typeface="ＭＳ Ｐゴシック" pitchFamily="-112" charset="-128"/>
              </a:rPr>
              <a:t>MATLAB: you should know it already…</a:t>
            </a: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r>
              <a:rPr lang="en-CH" sz="18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We will try out Jax!</a:t>
            </a:r>
          </a:p>
          <a:p>
            <a:pPr eaLnBrk="0" hangingPunct="0">
              <a:spcBef>
                <a:spcPct val="20000"/>
              </a:spcBef>
            </a:pPr>
            <a:endParaRPr lang="en-CH" sz="18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034" name="Picture 10" descr="GitHub - jax-ml/jax: Composable ...">
            <a:extLst>
              <a:ext uri="{FF2B5EF4-FFF2-40B4-BE49-F238E27FC236}">
                <a16:creationId xmlns:a16="http://schemas.microsoft.com/office/drawing/2014/main" id="{268F13D3-8643-11D1-984E-195CB12FD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132856"/>
            <a:ext cx="1656168" cy="96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DCD1F176-8510-9FB9-BB25-96C6BF78A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103" y="1916832"/>
            <a:ext cx="1623530" cy="145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0A1BE9-26B2-1897-3223-1F515F571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577" y="1916832"/>
            <a:ext cx="1977987" cy="126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7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449753-3E11-5768-FB2C-FB8063F3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65D8-938E-8A43-0B93-44D62386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77" y="392543"/>
            <a:ext cx="11328400" cy="719137"/>
          </a:xfrm>
        </p:spPr>
        <p:txBody>
          <a:bodyPr/>
          <a:lstStyle/>
          <a:p>
            <a:r>
              <a:rPr lang="en-CH" kern="0"/>
              <a:t>Literature</a:t>
            </a:r>
            <a:endParaRPr lang="en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41633D-D911-B245-C45C-2CC2581D914F}"/>
                  </a:ext>
                </a:extLst>
              </p:cNvPr>
              <p:cNvSpPr txBox="1"/>
              <p:nvPr/>
            </p:nvSpPr>
            <p:spPr bwMode="auto">
              <a:xfrm>
                <a:off x="520700" y="1238250"/>
                <a:ext cx="10111804" cy="53183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GB" sz="1800" b="1" dirty="0"/>
                  <a:t>A machine learning reference book</a:t>
                </a:r>
                <a:endParaRPr lang="en-GB" sz="1800" dirty="0"/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/>
                  <a:t>Murphy, Kevin P. </a:t>
                </a:r>
                <a:r>
                  <a:rPr lang="en-GB" sz="1800" i="1" dirty="0"/>
                  <a:t>Probabilistic machine learning: an introduction</a:t>
                </a:r>
                <a:r>
                  <a:rPr lang="en-GB" sz="1800" dirty="0"/>
                  <a:t>. MIT press, 2022.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/>
                  <a:t>Murphy, Kevin P. </a:t>
                </a:r>
                <a:r>
                  <a:rPr lang="en-GB" sz="1800" i="1" dirty="0"/>
                  <a:t>Probabilistic machine learning: Advanced topics</a:t>
                </a:r>
                <a:r>
                  <a:rPr lang="en-GB" sz="1800" dirty="0"/>
                  <a:t>. MIT press, 2023</a:t>
                </a:r>
              </a:p>
              <a:p>
                <a:pPr eaLnBrk="0" hangingPunct="0">
                  <a:spcBef>
                    <a:spcPct val="20000"/>
                  </a:spcBef>
                </a:pPr>
                <a:endParaRPr lang="en-GB" sz="1800" dirty="0"/>
              </a:p>
              <a:p>
                <a:pPr eaLnBrk="0" hangingPunct="0">
                  <a:spcBef>
                    <a:spcPct val="20000"/>
                  </a:spcBef>
                </a:pPr>
                <a:endParaRPr lang="en-GB" sz="1800" dirty="0"/>
              </a:p>
              <a:p>
                <a:pPr eaLnBrk="0" hangingPunct="0">
                  <a:spcBef>
                    <a:spcPct val="20000"/>
                  </a:spcBef>
                </a:pPr>
                <a:r>
                  <a:rPr lang="en-GB" sz="1800" b="1" dirty="0"/>
                  <a:t>Deep learning in system identification (my biased perspective)</a:t>
                </a:r>
                <a:endParaRPr lang="en-GB" sz="1800" dirty="0"/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/>
                  <a:t>Forgione, Marco, and Dario Piga. "Continuous-time system identification with neural networks: Model structures and fitting criteria." </a:t>
                </a:r>
                <a:r>
                  <a:rPr lang="en-GB" sz="1800" i="1" dirty="0"/>
                  <a:t>European Journal of Control</a:t>
                </a:r>
                <a:r>
                  <a:rPr lang="en-GB" sz="1800" dirty="0"/>
                  <a:t> 59 (2021): 69-81.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/>
                  <a:t>Beintema, Gerben I., Maarten </a:t>
                </a:r>
                <a:r>
                  <a:rPr lang="en-GB" sz="1800" dirty="0" err="1"/>
                  <a:t>Schoukens</a:t>
                </a:r>
                <a:r>
                  <a:rPr lang="en-GB" sz="1800" dirty="0"/>
                  <a:t>, and Roland Tóth. "Deep subspace encoders for nonlinear system identification." </a:t>
                </a:r>
                <a:r>
                  <a:rPr lang="en-GB" sz="1800" i="1" dirty="0" err="1"/>
                  <a:t>Automatica</a:t>
                </a:r>
                <a:r>
                  <a:rPr lang="en-GB" sz="1800" dirty="0"/>
                  <a:t> 156 (2023): 111210.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 err="1"/>
                  <a:t>Bemporad</a:t>
                </a:r>
                <a:r>
                  <a:rPr lang="en-GB" sz="1800" dirty="0"/>
                  <a:t>, Alberto. "An L-BFGS-B Approach for Linear and Nonlinear System Identification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/>
                  <a:t> and Group-Lasso Regularization." </a:t>
                </a:r>
                <a:r>
                  <a:rPr lang="en-GB" sz="1800" i="1" dirty="0"/>
                  <a:t>IEEE Transactions on Automatic Control</a:t>
                </a:r>
                <a:r>
                  <a:rPr lang="en-GB" sz="1800" dirty="0"/>
                  <a:t> (2025).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GB" sz="1800" dirty="0" err="1"/>
                  <a:t>Pillonetto</a:t>
                </a:r>
                <a:r>
                  <a:rPr lang="en-GB" sz="1800" dirty="0"/>
                  <a:t>, Gianluigi, Aleksandr </a:t>
                </a:r>
                <a:r>
                  <a:rPr lang="en-GB" sz="1800" dirty="0" err="1"/>
                  <a:t>Aravkin</a:t>
                </a:r>
                <a:r>
                  <a:rPr lang="en-GB" sz="1800" dirty="0"/>
                  <a:t>, Daniel </a:t>
                </a:r>
                <a:r>
                  <a:rPr lang="en-GB" sz="1800" dirty="0" err="1"/>
                  <a:t>Gedon</a:t>
                </a:r>
                <a:r>
                  <a:rPr lang="en-GB" sz="1800" dirty="0"/>
                  <a:t>, Lennart Ljung, Antonio H. Ribeiro, and Thomas B. Schön. "Deep networks for system identification: a survey." </a:t>
                </a:r>
                <a:r>
                  <a:rPr lang="en-GB" sz="1800" i="1" dirty="0" err="1"/>
                  <a:t>Automatica</a:t>
                </a:r>
                <a:r>
                  <a:rPr lang="en-GB" sz="1800" dirty="0"/>
                  <a:t> 171 (2025): 111907.</a:t>
                </a:r>
              </a:p>
              <a:p>
                <a:pPr eaLnBrk="0" hangingPunct="0">
                  <a:spcBef>
                    <a:spcPct val="20000"/>
                  </a:spcBef>
                </a:pPr>
                <a:endParaRPr lang="en-GB" sz="1800" dirty="0"/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CH" sz="18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41633D-D911-B245-C45C-2CC2581D9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700" y="1238250"/>
                <a:ext cx="10111804" cy="5318379"/>
              </a:xfrm>
              <a:prstGeom prst="rect">
                <a:avLst/>
              </a:prstGeom>
              <a:blipFill>
                <a:blip r:embed="rId2"/>
                <a:stretch>
                  <a:fillRect l="-1378" t="-14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4653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"/>
  <p:tag name="ORIGINALWIDTH" val="109"/>
  <p:tag name="OUTPUTTYPE" val="PDF"/>
  <p:tag name="IGUANATEXVERSION" val="160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&#10; \end{align*}&#10;&#10;&#10;&#10;&#10;\end{document}"/>
  <p:tag name="IGUANATEXSIZE" val="24"/>
  <p:tag name="IGUANATEXCURSOR" val="482"/>
  <p:tag name="TRANSPARENCY" val="True"/>
  <p:tag name="LATEXENGINEID" val="0"/>
  <p:tag name="TEMPFOLDER" val="/Users/marco.forgione/Library/Containers/com.microsoft.Powerpoint/Data/tmp/TemporaryItems/"/>
  <p:tag name="LATEXFORMHEIGHT" val="468"/>
  <p:tag name="LATEXFORMWIDTH" val="114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"/>
  <p:tag name="ORIGINALWIDTH" val="109"/>
  <p:tag name="OUTPUTTYPE" val="PDF"/>
  <p:tag name="IGUANATEXVERSION" val="160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&#10; \end{align*}&#10;&#10;&#10;&#10;&#10;\end{document}"/>
  <p:tag name="IGUANATEXSIZE" val="24"/>
  <p:tag name="IGUANATEXCURSOR" val="483"/>
  <p:tag name="TRANSPARENCY" val="True"/>
  <p:tag name="LATEXENGINEID" val="0"/>
  <p:tag name="TEMPFOLDER" val="/Users/marco.forgione/Library/Containers/com.microsoft.Powerpoint/Data/tmp/TemporaryItems/"/>
  <p:tag name="LATEXFORMHEIGHT" val="516"/>
  <p:tag name="LATEXFORMWIDTH" val="673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1"/>
  <p:tag name="ORIGINALWIDTH" val="105"/>
  <p:tag name="OUTPUTTYPE" val="PDF"/>
  <p:tag name="IGUANATEXVERSION" val="160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&#10; \end{align*}&#10;&#10;&#10;&#10;&#10;\end{document}"/>
  <p:tag name="IGUANATEXSIZE" val="24"/>
  <p:tag name="IGUANATEXCURSOR" val="461"/>
  <p:tag name="TRANSPARENCY" val="True"/>
  <p:tag name="LATEXENGINEID" val="0"/>
  <p:tag name="TEMPFOLDER" val="/Users/marco.forgione/Library/Containers/com.microsoft.Powerpoint/Data/tmp/TemporaryItems/"/>
  <p:tag name="LATEXFORMHEIGHT" val="441"/>
  <p:tag name="LATEXFORMWIDTH" val="599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2"/>
  <p:tag name="ORIGINALWIDTH" val="206"/>
  <p:tag name="OUTPUTTYPE" val="PDF"/>
  <p:tag name="IGUANATEXVERSION" val="160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definecolor{dgreen}{RGB}{0,100,0}&#10;\begin{document}&#10;&#10;\begin{align*}&#10;\textcolor{dyel}{y} = W_3\sigma\big(W_2\sigma(W_1 x + b_1)+ b_2\big) + b_3 = \mathrm{FF}(x;\theta)&#10;\end{align*}&#10;&#10;&#10;&#10;\end{document}"/>
  <p:tag name="IGUANATEXSIZE" val="24"/>
  <p:tag name="IGUANATEXCURSOR" val="506"/>
  <p:tag name="TRANSPARENCY" val="True"/>
  <p:tag name="LATEXENGINEID" val="0"/>
  <p:tag name="TEMPFOLDER" val="/Users/marco.forgione/Library/Containers/com.microsoft.Powerpoint/Data/tmp/TemporaryItems/"/>
  <p:tag name="LATEXFORMHEIGHT" val="461"/>
  <p:tag name="LATEXFORMWIDTH" val="739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sigma(\cdot)&#10;$$&#10;&#10;\end{document}"/>
  <p:tag name="IGUANATEXSIZE" val="18"/>
  <p:tag name="IGUANATEXCURSOR" val="178"/>
  <p:tag name="TRANSPARENCY" val="Fals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4.518"/>
  <p:tag name="ORIGINALWIDTH" val="6879.6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&#10;&#10;\begin{enumerate}&#10;    \item \textbf{Initialize Parameters}: $\theta^{(0)}$&#10;    &#10;    \item \textbf{for $k=0,1,\ldots$}: \textbf{until} maximum number of iterations or   convergence \textbf{do}:&#10;    \begin{enumerate}&#10;        \item \textbf{Compute Gradient}: $\nabla_\theta \mathcal{L}(\theta^{(k)})$ &#10;        &#10;        \item \textbf{Update Parameters}: &#10;        \[ \theta^{(k+1)} = \theta^{(k)} - \gamma \cdot \nabla_\theta \mathcal{L}(\theta^{(k)}) \]&#10;    \end{enumerate}&#10;\end{enumerate}&#10;&#10;\end{document}&#10;&#10;&#10;&#10;&#10;\end{document}"/>
  <p:tag name="IGUANATEXSIZE" val="20"/>
  <p:tag name="IGUANATEXCURSOR" val="65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"/>
  <p:tag name="ORIGINALWIDTH" val="118"/>
  <p:tag name="OUTPUTTYPE" val="PDF"/>
  <p:tag name="IGUANATEXVERSION" val="160"/>
  <p:tag name="LATEXADDIN" val="\documentclass{article}&#10;\usepackage{amsmath}&#10;\usepackage{amsfonts}&#10;&#10;\pagestyle{empty}&#10;&#10;\begin{document}&#10;&#10;% $$f : \mathbb{R}^2 \rightarrow \mathbb{R}; \qquad x \rightarrow 2\sin (x_1) - 3\cos (x_2)$$&#10;&#10;$$ f(x) = 2\sin (x_1) - 3\cos (x_2) $$&#10;$$ x \in [-2, 2]^2 \subset \mathbb{R}^2$$&#10;&#10;\end{document}"/>
  <p:tag name="IGUANATEXSIZE" val="18"/>
  <p:tag name="IGUANATEXCURSOR" val="259"/>
  <p:tag name="TRANSPARENCY" val="True"/>
  <p:tag name="LATEXENGINEID" val="0"/>
  <p:tag name="TEMPFOLDER" val="/Users/marco.forgione/Library/Containers/com.microsoft.Powerpoint/Data/tmp/TemporaryItems/"/>
  <p:tag name="LATEXFORMHEIGHT" val="434"/>
  <p:tag name="LATEXFORMWIDTH" val="88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48"/>
  <p:tag name="OUTPUTTYPE" val="PDF"/>
  <p:tag name="IGUANATEXVERSION" val="160"/>
  <p:tag name="LATEXADDIN" val="\documentclass{article}&#10;\usepackage{amsmath}&#10;\usepackage{amsfonts}&#10;&#10;\pagestyle{empty}&#10;&#10;\begin{document}&#10;&#10;\begin{equation*}&#10;f : \mathbb{R}^2 \rightarrow \mathbb{R}&#10;\end{equation*}&#10;&#10;\end{document}"/>
  <p:tag name="IGUANATEXSIZE" val="20"/>
  <p:tag name="IGUANATEXCURSOR" val="16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"/>
  <p:tag name="ORIGINALWIDTH" val="5"/>
  <p:tag name="OUTPUTTYPE" val="PDF"/>
  <p:tag name="IGUANATEXVERSION" val="160"/>
  <p:tag name="LATEXADDIN" val="\documentclass{article}&#10;\usepackage{amsmath}&#10;\usepackage{amsfonts}&#10;&#10;\pagestyle{empty}&#10;&#10;\begin{document}&#10;&#10;\begin{equation*}&#10;x&#10;\end{equation*}&#10;&#10;\end{document}"/>
  <p:tag name="IGUANATEXSIZE" val="20"/>
  <p:tag name="IGUANATEXCURSOR" val="12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5"/>
  <p:tag name="OUTPUTTYPE" val="PDF"/>
  <p:tag name="IGUANATEXVERSION" val="160"/>
  <p:tag name="LATEXADDIN" val="\documentclass{article}&#10;\usepackage{amsmath}&#10;\usepackage{amsfonts}&#10;&#10;\pagestyle{empty}&#10;&#10;\begin{document}&#10;&#10;\begin{equation*}&#10;\hat y&#10;\end{equation*}&#10;&#10;\end{document}"/>
  <p:tag name="IGUANATEXSIZE" val="20"/>
  <p:tag name="IGUANATEXCURSOR" val="12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7"/>
  <p:tag name="ORIGINALWIDTH" val="307"/>
  <p:tag name="OUTPUTTYPE" val="PDF"/>
  <p:tag name="IGUANATEXVERSION" val="160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&#10;&#10;\begin{document}&#10;&#10; \begin{align*}&#10;\hat{y}(k) &amp;=  \mathrm{FF}\big(&#10;\overbrace{&#10;y(k-1),  \ldots, y(k-n_a), u(k),  u(k-1), \ldots,  u(k-n_b-1)&#10;}^{=x(k)}&#10;; {\theta} \big) &#10; \end{align*}&#10;&#10;&#10;&#10;&#10;\end{document}"/>
  <p:tag name="IGUANATEXSIZE" val="24"/>
  <p:tag name="IGUANATEXCURSOR" val="502"/>
  <p:tag name="TRANSPARENCY" val="True"/>
  <p:tag name="LATEXENGINEID" val="0"/>
  <p:tag name="TEMPFOLDER" val="/Users/marco.forgione/Library/Containers/com.microsoft.Powerpoint/Data/tmp/TemporaryItems/"/>
  <p:tag name="LATEXFORMHEIGHT" val="506"/>
  <p:tag name="LATEXFORMWIDTH" val="631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"/>
  <p:tag name="ORIGINALWIDTH" val="126"/>
  <p:tag name="OUTPUTTYPE" val="PDF"/>
  <p:tag name="IGUANATEXVERSION" val="160"/>
  <p:tag name="LATEXADDIN" val="\documentclass{article}&#10;\usepackage{amsmath}&#10;\newcommand{\sys}{S}&#10;\newcommand{\diss}{d}&#10;\newcommand{\learn}{\mathcal{L}} &#10;\newcommand{\free}{\mathcal{M}}  &#10;\newcommand{\D}{\mathcal{D}}&#10;\newcommand{\R}{\mathbb{R}}&#10;\newcommand{\nsamp}{N}&#10;\newcommand{\norm}[1]{\left\lVert#1\right\rVert}&#10;\newcommand{\E}{\mathbb{E}}&#10;\newcommand{\mdl}{M}&#10;\newcommand{\mdlstruc}{\mathcal{M}}&#10;\pagestyle{empty}&#10;&#10;\begin{document}&#10;&#10;\begin{align*}&#10;x({k+1}) &amp;= \mathrm{FF}_x(x(k), u(k); \theta) \\&#10;y(k) &amp;= \mathrm{FF}_y(x(k); \theta)&#10;\end{align*}&#10;&#10;\end{document}"/>
  <p:tag name="IGUANATEXSIZE" val="24"/>
  <p:tag name="IGUANATEXCURSOR" val="45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SUPSI_DACD_CCR_2010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05fedb-ed2a-4eb3-93de-5f5a6c97bfe0">
      <Terms xmlns="http://schemas.microsoft.com/office/infopath/2007/PartnerControls"/>
    </lcf76f155ced4ddcb4097134ff3c332f>
    <TaxCatchAll xmlns="c69d801c-64cd-49bc-b1b3-ec2496ede0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3B4D0C91CA54E9BBFAD215D4A4FF7" ma:contentTypeVersion="18" ma:contentTypeDescription="Create a new document." ma:contentTypeScope="" ma:versionID="48c4930ddcec7bff74490998dd84a4c1">
  <xsd:schema xmlns:xsd="http://www.w3.org/2001/XMLSchema" xmlns:xs="http://www.w3.org/2001/XMLSchema" xmlns:p="http://schemas.microsoft.com/office/2006/metadata/properties" xmlns:ns2="0c05fedb-ed2a-4eb3-93de-5f5a6c97bfe0" xmlns:ns3="c69d801c-64cd-49bc-b1b3-ec2496ede094" targetNamespace="http://schemas.microsoft.com/office/2006/metadata/properties" ma:root="true" ma:fieldsID="dcb337392c8a5973c5e221652a72fbb4" ns2:_="" ns3:_="">
    <xsd:import namespace="0c05fedb-ed2a-4eb3-93de-5f5a6c97bfe0"/>
    <xsd:import namespace="c69d801c-64cd-49bc-b1b3-ec2496ede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fedb-ed2a-4eb3-93de-5f5a6c97b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c321eb7-7579-4b0b-aaae-46c07e4320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801c-64cd-49bc-b1b3-ec2496ede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ad22e3-f7d4-475a-9946-b2f27a0b53ef}" ma:internalName="TaxCatchAll" ma:showField="CatchAllData" ma:web="c69d801c-64cd-49bc-b1b3-ec2496ede0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2A9E72-43F2-4CCE-8F90-EBA4919DBB42}">
  <ds:schemaRefs>
    <ds:schemaRef ds:uri="http://schemas.microsoft.com/office/2006/documentManagement/types"/>
    <ds:schemaRef ds:uri="c69d801c-64cd-49bc-b1b3-ec2496ede094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0c05fedb-ed2a-4eb3-93de-5f5a6c97bfe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57E0BBE-38AF-4179-B401-F6E82B6A5F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0C4CF8-8E6C-4481-8DE0-79509E180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fedb-ed2a-4eb3-93de-5f5a6c97bfe0"/>
    <ds:schemaRef ds:uri="c69d801c-64cd-49bc-b1b3-ec2496ede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Powerpoint_ST_CS_1 copia</Template>
  <TotalTime>638</TotalTime>
  <Words>637</Words>
  <Application>Microsoft Macintosh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Cambria Math</vt:lpstr>
      <vt:lpstr>Helvetica</vt:lpstr>
      <vt:lpstr>Times New Roman</vt:lpstr>
      <vt:lpstr>SUPSI_DACD_CCR_2010</vt:lpstr>
      <vt:lpstr>Deep Learning for System Identification</vt:lpstr>
      <vt:lpstr>Artificial Intelligence, Machine Learning, Deep Learning</vt:lpstr>
      <vt:lpstr>Machine learning: Regression</vt:lpstr>
      <vt:lpstr>Feed-Forward Neural Networks</vt:lpstr>
      <vt:lpstr>Gradient Descent</vt:lpstr>
      <vt:lpstr>Example: synthetic toy dataset</vt:lpstr>
      <vt:lpstr>Feed-forward neural network</vt:lpstr>
      <vt:lpstr>Model evaluation</vt:lpstr>
      <vt:lpstr>Deep Learning for System Identification</vt:lpstr>
      <vt:lpstr>What we won’t cover</vt:lpstr>
      <vt:lpstr>Software for Deep Learning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Forgione Marco</cp:lastModifiedBy>
  <cp:revision>200</cp:revision>
  <cp:lastPrinted>2026-01-20T13:24:17Z</cp:lastPrinted>
  <dcterms:created xsi:type="dcterms:W3CDTF">2017-01-20T15:44:58Z</dcterms:created>
  <dcterms:modified xsi:type="dcterms:W3CDTF">2026-01-21T12:32:22Z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0x010100E943B4D0C91CA54E9BBFAD215D4A4FF7</vt:lpwstr>
  </property>
  <property fmtid="{D5CDD505-2E9C-101B-9397-08002B2CF9AE}" pid="3" name="MediaServiceImageTags">
    <vt:lpwstr/>
  </property>
</Properties>
</file>