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4"/>
  </p:sldMasterIdLst>
  <p:notesMasterIdLst>
    <p:notesMasterId r:id="rId17"/>
  </p:notesMasterIdLst>
  <p:handoutMasterIdLst>
    <p:handoutMasterId r:id="rId18"/>
  </p:handoutMasterIdLst>
  <p:sldIdLst>
    <p:sldId id="258" r:id="rId5"/>
    <p:sldId id="271" r:id="rId6"/>
    <p:sldId id="272" r:id="rId7"/>
    <p:sldId id="274" r:id="rId8"/>
    <p:sldId id="273" r:id="rId9"/>
    <p:sldId id="259" r:id="rId10"/>
    <p:sldId id="260" r:id="rId11"/>
    <p:sldId id="263" r:id="rId12"/>
    <p:sldId id="275" r:id="rId13"/>
    <p:sldId id="277" r:id="rId14"/>
    <p:sldId id="276" r:id="rId15"/>
    <p:sldId id="278" r:id="rId16"/>
  </p:sldIdLst>
  <p:sldSz cx="12192000" cy="6858000"/>
  <p:notesSz cx="6858000" cy="91440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2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70"/>
    <p:restoredTop sz="94694"/>
  </p:normalViewPr>
  <p:slideViewPr>
    <p:cSldViewPr>
      <p:cViewPr varScale="1">
        <p:scale>
          <a:sx n="121" d="100"/>
          <a:sy n="121" d="100"/>
        </p:scale>
        <p:origin x="2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7AF82F7-3B33-6D48-9626-CABC5CBE1A55}" type="datetime1">
              <a:rPr lang="it-IT" altLang="x-none"/>
              <a:pPr/>
              <a:t>20/01/26</a:t>
            </a:fld>
            <a:endParaRPr lang="it-IT" altLang="x-non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183107-877A-3843-B981-15C7FF01828C}" type="slidenum">
              <a:rPr lang="it-IT" altLang="x-none"/>
              <a:pPr/>
              <a:t>‹#›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>Second level</a:t>
            </a:r>
          </a:p>
          <a:p>
            <a:pPr lvl="2"/>
            <a:r>
              <a:rPr lang="it-IT" noProof="0"/>
              <a:t>Third level</a:t>
            </a:r>
          </a:p>
          <a:p>
            <a:pPr lvl="3"/>
            <a:r>
              <a:rPr lang="it-IT" noProof="0"/>
              <a:t>Fourth level</a:t>
            </a:r>
          </a:p>
          <a:p>
            <a:pPr lvl="4"/>
            <a:r>
              <a:rPr lang="it-IT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DBE5DE3-AADE-E24A-8400-E9BC47681F7D}" type="slidenum">
              <a:rPr lang="it-IT" altLang="x-none"/>
              <a:pPr/>
              <a:t>‹#›</a:t>
            </a:fld>
            <a:endParaRPr lang="it-IT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31800" y="1773239"/>
            <a:ext cx="11328400" cy="1584325"/>
          </a:xfrm>
        </p:spPr>
        <p:txBody>
          <a:bodyPr/>
          <a:lstStyle>
            <a:lvl1pPr>
              <a:defRPr sz="48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1800" y="3357564"/>
            <a:ext cx="11328400" cy="19002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13"/>
          </p:nvPr>
        </p:nvSpPr>
        <p:spPr>
          <a:xfrm>
            <a:off x="435909" y="5371909"/>
            <a:ext cx="11329577" cy="952691"/>
          </a:xfrm>
        </p:spPr>
        <p:txBody>
          <a:bodyPr/>
          <a:lstStyle>
            <a:lvl1pPr algn="l">
              <a:buNone/>
              <a:defRPr sz="18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38749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8301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318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4793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1126800"/>
            <a:ext cx="11379200" cy="579438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06400" y="1752600"/>
            <a:ext cx="5590117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06400" y="2438400"/>
            <a:ext cx="5590117" cy="36877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93368" y="1752600"/>
            <a:ext cx="5592233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2438400"/>
            <a:ext cx="5592233" cy="3687763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buNone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722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7999" y="1125539"/>
            <a:ext cx="11355023" cy="719137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</p:spTree>
    <p:extLst>
      <p:ext uri="{BB962C8B-B14F-4D97-AF65-F5344CB8AC3E}">
        <p14:creationId xmlns:p14="http://schemas.microsoft.com/office/powerpoint/2010/main" val="206358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505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35114" y="1127797"/>
            <a:ext cx="4035287" cy="914400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6734" y="1126800"/>
            <a:ext cx="6993093" cy="499552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35115" y="2133601"/>
            <a:ext cx="4035285" cy="3992563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22361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4800600"/>
            <a:ext cx="11359085" cy="566738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it-IT" noProof="0"/>
              <a:t>Trascinare l'immagine su un segnaposto o fare clic sull'icona per aggiungerla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06400" y="5367338"/>
            <a:ext cx="11359085" cy="804862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0160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FCF993-D11C-B448-A99B-84A5F27957B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-6036" y="0"/>
            <a:ext cx="12192000" cy="6858000"/>
          </a:xfrm>
          <a:prstGeom prst="rect">
            <a:avLst/>
          </a:prstGeom>
        </p:spPr>
      </p:pic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0" y="1125539"/>
            <a:ext cx="11328400" cy="719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 dirty="0"/>
              <a:t>Fare clic per modificare stile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916114"/>
            <a:ext cx="11328400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/>
              <a:t>Fare clic per modificare gli stili del testo dello schema</a:t>
            </a:r>
          </a:p>
          <a:p>
            <a:pPr lvl="1"/>
            <a:r>
              <a:rPr lang="it-IT" altLang="x-none"/>
              <a:t>Secondo livello</a:t>
            </a:r>
          </a:p>
          <a:p>
            <a:pPr lvl="2"/>
            <a:r>
              <a:rPr lang="it-IT" altLang="x-none"/>
              <a:t>Terzo livello</a:t>
            </a:r>
          </a:p>
          <a:p>
            <a:pPr lvl="3"/>
            <a:r>
              <a:rPr lang="it-IT" altLang="x-none"/>
              <a:t>Quarto livello</a:t>
            </a:r>
          </a:p>
          <a:p>
            <a:pPr lvl="4"/>
            <a:r>
              <a:rPr lang="it-IT" altLang="x-none"/>
              <a:t>Quinto livello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7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>
          <a:solidFill>
            <a:srgbClr val="00B2BD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ＭＳ Ｐゴシック" pitchFamily="-112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tags" Target="../tags/tag3.xm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3.xml"/><Relationship Id="rId11" Type="http://schemas.openxmlformats.org/officeDocument/2006/relationships/image" Target="../media/image10.emf"/><Relationship Id="rId5" Type="http://schemas.openxmlformats.org/officeDocument/2006/relationships/tags" Target="../tags/tag5.xml"/><Relationship Id="rId10" Type="http://schemas.openxmlformats.org/officeDocument/2006/relationships/image" Target="../media/image9.emf"/><Relationship Id="rId4" Type="http://schemas.openxmlformats.org/officeDocument/2006/relationships/tags" Target="../tags/tag4.xml"/><Relationship Id="rId9" Type="http://schemas.openxmlformats.org/officeDocument/2006/relationships/image" Target="../media/image8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Relationship Id="rId4" Type="http://schemas.openxmlformats.org/officeDocument/2006/relationships/image" Target="../media/image1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17.png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9.emf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openxmlformats.org/officeDocument/2006/relationships/image" Target="../media/image18.png"/><Relationship Id="rId4" Type="http://schemas.openxmlformats.org/officeDocument/2006/relationships/image" Target="../media/image18.emf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altLang="x-none" dirty="0">
                <a:solidFill>
                  <a:srgbClr val="00B2BD"/>
                </a:solidFill>
                <a:ea typeface="ＭＳ Ｐゴシック" charset="-128"/>
              </a:rPr>
              <a:t>Deep Learning for System Identification</a:t>
            </a:r>
            <a:endParaRPr lang="x-none" altLang="x-none">
              <a:solidFill>
                <a:srgbClr val="00B2BD"/>
              </a:solidFill>
              <a:ea typeface="ＭＳ Ｐゴシック" charset="-128"/>
            </a:endParaRPr>
          </a:p>
        </p:txBody>
      </p:sp>
      <p:sp>
        <p:nvSpPr>
          <p:cNvPr id="16390" name="Segnaposto testo 5"/>
          <p:cNvSpPr>
            <a:spLocks noGrp="1"/>
          </p:cNvSpPr>
          <p:nvPr>
            <p:ph type="body" sz="quarter" idx="13"/>
          </p:nvPr>
        </p:nvSpPr>
        <p:spPr>
          <a:xfrm>
            <a:off x="431800" y="4725144"/>
            <a:ext cx="11328400" cy="952500"/>
          </a:xfrm>
        </p:spPr>
        <p:txBody>
          <a:bodyPr/>
          <a:lstStyle/>
          <a:p>
            <a:r>
              <a:rPr lang="it-IT" altLang="x-none" dirty="0">
                <a:ea typeface="ＭＳ Ｐゴシック" charset="-128"/>
              </a:rPr>
              <a:t>Marco Forgione</a:t>
            </a:r>
          </a:p>
          <a:p>
            <a:pPr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Helvetica" pitchFamily="2" charset="0"/>
              </a:rPr>
              <a:t>SUPSI – </a:t>
            </a:r>
            <a:r>
              <a:rPr lang="en-GB" dirty="0" err="1">
                <a:solidFill>
                  <a:srgbClr val="000000"/>
                </a:solidFill>
                <a:effectLst/>
                <a:latin typeface="Helvetica" pitchFamily="2" charset="0"/>
              </a:rPr>
              <a:t>Scuola</a:t>
            </a:r>
            <a:r>
              <a:rPr lang="en-GB" dirty="0">
                <a:solidFill>
                  <a:srgbClr val="000000"/>
                </a:solidFill>
                <a:effectLst/>
                <a:latin typeface="Helvetica" pitchFamily="2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Helvetica" pitchFamily="2" charset="0"/>
              </a:rPr>
              <a:t>Universitaria</a:t>
            </a:r>
            <a:r>
              <a:rPr lang="en-GB" dirty="0">
                <a:solidFill>
                  <a:srgbClr val="000000"/>
                </a:solidFill>
                <a:effectLst/>
                <a:latin typeface="Helvetica" pitchFamily="2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Helvetica" pitchFamily="2" charset="0"/>
              </a:rPr>
              <a:t>Professionale</a:t>
            </a:r>
            <a:r>
              <a:rPr lang="en-GB" dirty="0">
                <a:solidFill>
                  <a:srgbClr val="000000"/>
                </a:solidFill>
                <a:effectLst/>
                <a:latin typeface="Helvetica" pitchFamily="2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Helvetica" pitchFamily="2" charset="0"/>
              </a:rPr>
              <a:t>della</a:t>
            </a:r>
            <a:r>
              <a:rPr lang="en-GB" dirty="0">
                <a:solidFill>
                  <a:srgbClr val="000000"/>
                </a:solidFill>
                <a:effectLst/>
                <a:latin typeface="Helvetica" pitchFamily="2" charset="0"/>
              </a:rPr>
              <a:t> Svizzera </a:t>
            </a:r>
            <a:r>
              <a:rPr lang="en-GB" dirty="0" err="1">
                <a:solidFill>
                  <a:srgbClr val="000000"/>
                </a:solidFill>
                <a:effectLst/>
                <a:latin typeface="Helvetica" pitchFamily="2" charset="0"/>
              </a:rPr>
              <a:t>Italiana</a:t>
            </a:r>
            <a:endParaRPr lang="en-GB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Helvetica" pitchFamily="2" charset="0"/>
              </a:rPr>
              <a:t>IDSIA – Dalle Molle Institute for Artificial Intelligence</a:t>
            </a:r>
          </a:p>
          <a:p>
            <a:pPr>
              <a:buNone/>
            </a:pPr>
            <a:endParaRPr lang="en-GB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r>
              <a:rPr lang="en-GB" dirty="0" err="1">
                <a:solidFill>
                  <a:srgbClr val="000000"/>
                </a:solidFill>
                <a:effectLst/>
                <a:latin typeface="Helvetica" pitchFamily="2" charset="0"/>
              </a:rPr>
              <a:t>marco.forgione@supsi.ch</a:t>
            </a:r>
            <a:endParaRPr lang="en-GB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46ADC-30E8-06C5-89ED-0E5F49A08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Artificial Intelligence, Machine Learning, Deep Learning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244068C-4A87-BB87-9675-359F682A0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798" y="1844676"/>
            <a:ext cx="8216403" cy="4000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885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EB4060-FE11-66A2-A801-AD620FFCA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Machine learning: Regression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C036583-E92E-F378-102D-6B3BBDC286DC}"/>
              </a:ext>
            </a:extLst>
          </p:cNvPr>
          <p:cNvSpPr txBox="1">
            <a:spLocks/>
          </p:cNvSpPr>
          <p:nvPr/>
        </p:nvSpPr>
        <p:spPr>
          <a:xfrm>
            <a:off x="7176120" y="1178938"/>
            <a:ext cx="3590439" cy="523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it-CH" sz="2000" dirty="0"/>
              <a:t>	</a:t>
            </a:r>
            <a:r>
              <a:rPr lang="en-US" sz="2000" dirty="0"/>
              <a:t>Real estate application</a:t>
            </a:r>
            <a:endParaRPr lang="it-CH" sz="2000" dirty="0"/>
          </a:p>
        </p:txBody>
      </p:sp>
      <p:pic>
        <p:nvPicPr>
          <p:cNvPr id="10" name="Immagine 3">
            <a:extLst>
              <a:ext uri="{FF2B5EF4-FFF2-40B4-BE49-F238E27FC236}">
                <a16:creationId xmlns:a16="http://schemas.microsoft.com/office/drawing/2014/main" id="{01EF6407-3BAE-061E-CC60-5F9E3F8EB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68" y="1508554"/>
            <a:ext cx="5707770" cy="3648638"/>
          </a:xfrm>
          <a:prstGeom prst="rect">
            <a:avLst/>
          </a:prstGeom>
        </p:spPr>
      </p:pic>
      <p:sp>
        <p:nvSpPr>
          <p:cNvPr id="12" name="Figura a mano libera 4">
            <a:extLst>
              <a:ext uri="{FF2B5EF4-FFF2-40B4-BE49-F238E27FC236}">
                <a16:creationId xmlns:a16="http://schemas.microsoft.com/office/drawing/2014/main" id="{25B1EF2B-2AC3-D76E-77F9-92A6B59616E1}"/>
              </a:ext>
            </a:extLst>
          </p:cNvPr>
          <p:cNvSpPr/>
          <p:nvPr/>
        </p:nvSpPr>
        <p:spPr>
          <a:xfrm>
            <a:off x="7039725" y="1700808"/>
            <a:ext cx="3672408" cy="2656917"/>
          </a:xfrm>
          <a:custGeom>
            <a:avLst/>
            <a:gdLst>
              <a:gd name="connsiteX0" fmla="*/ 0 w 4427702"/>
              <a:gd name="connsiteY0" fmla="*/ 3224469 h 3224469"/>
              <a:gd name="connsiteX1" fmla="*/ 1110343 w 4427702"/>
              <a:gd name="connsiteY1" fmla="*/ 2887012 h 3224469"/>
              <a:gd name="connsiteX2" fmla="*/ 2122714 w 4427702"/>
              <a:gd name="connsiteY2" fmla="*/ 2222984 h 3224469"/>
              <a:gd name="connsiteX3" fmla="*/ 2906485 w 4427702"/>
              <a:gd name="connsiteY3" fmla="*/ 1406555 h 3224469"/>
              <a:gd name="connsiteX4" fmla="*/ 4234543 w 4427702"/>
              <a:gd name="connsiteY4" fmla="*/ 198241 h 3224469"/>
              <a:gd name="connsiteX5" fmla="*/ 4419600 w 4427702"/>
              <a:gd name="connsiteY5" fmla="*/ 2298 h 3224469"/>
              <a:gd name="connsiteX6" fmla="*/ 4419600 w 4427702"/>
              <a:gd name="connsiteY6" fmla="*/ 2298 h 3224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27702" h="3224469">
                <a:moveTo>
                  <a:pt x="0" y="3224469"/>
                </a:moveTo>
                <a:cubicBezTo>
                  <a:pt x="378278" y="3139197"/>
                  <a:pt x="756557" y="3053926"/>
                  <a:pt x="1110343" y="2887012"/>
                </a:cubicBezTo>
                <a:cubicBezTo>
                  <a:pt x="1464129" y="2720098"/>
                  <a:pt x="1823357" y="2469727"/>
                  <a:pt x="2122714" y="2222984"/>
                </a:cubicBezTo>
                <a:cubicBezTo>
                  <a:pt x="2422071" y="1976241"/>
                  <a:pt x="2554514" y="1744012"/>
                  <a:pt x="2906485" y="1406555"/>
                </a:cubicBezTo>
                <a:cubicBezTo>
                  <a:pt x="3258456" y="1069098"/>
                  <a:pt x="3982357" y="432284"/>
                  <a:pt x="4234543" y="198241"/>
                </a:cubicBezTo>
                <a:cubicBezTo>
                  <a:pt x="4486729" y="-35802"/>
                  <a:pt x="4419600" y="2298"/>
                  <a:pt x="4419600" y="2298"/>
                </a:cubicBezTo>
                <a:lnTo>
                  <a:pt x="4419600" y="2298"/>
                </a:lnTo>
              </a:path>
            </a:pathLst>
          </a:custGeom>
          <a:ln w="2857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6">
                <a:extLst>
                  <a:ext uri="{FF2B5EF4-FFF2-40B4-BE49-F238E27FC236}">
                    <a16:creationId xmlns:a16="http://schemas.microsoft.com/office/drawing/2014/main" id="{D03F9AC4-14F8-D3B9-DEBB-50877056960B}"/>
                  </a:ext>
                </a:extLst>
              </p:cNvPr>
              <p:cNvSpPr txBox="1">
                <a:spLocks noGrp="1"/>
              </p:cNvSpPr>
              <p:nvPr>
                <p:ph sz="half" idx="1"/>
              </p:nvPr>
            </p:nvSpPr>
            <p:spPr>
              <a:xfrm>
                <a:off x="431800" y="1916114"/>
                <a:ext cx="5562600" cy="23500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it-CH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CH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it-CH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it-CH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CH" sz="2000" b="0" i="0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it-CH" sz="2000" dirty="0"/>
                  <a:t>  </a:t>
                </a:r>
                <a:r>
                  <a:rPr lang="it-CH" sz="2000" dirty="0">
                    <a:solidFill>
                      <a:srgbClr val="FF0000"/>
                    </a:solidFill>
                  </a:rPr>
                  <a:t>training dataset</a:t>
                </a:r>
                <a:br>
                  <a:rPr lang="it-CH" sz="2000" dirty="0">
                    <a:solidFill>
                      <a:srgbClr val="FF0000"/>
                    </a:solidFill>
                  </a:rPr>
                </a:br>
                <a:endParaRPr lang="it-CH" sz="2000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it-CH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p>
                        <m:r>
                          <a:rPr lang="it-CH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CH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CH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CH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it-CH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it-CH" sz="2000" dirty="0"/>
                  <a:t>               </a:t>
                </a:r>
                <a:r>
                  <a:rPr lang="it-CH" sz="2000" dirty="0">
                    <a:solidFill>
                      <a:srgbClr val="FF0000"/>
                    </a:solidFill>
                  </a:rPr>
                  <a:t>model structure</a:t>
                </a:r>
                <a:br>
                  <a:rPr lang="it-CH" sz="2000" dirty="0">
                    <a:solidFill>
                      <a:srgbClr val="FF0000"/>
                    </a:solidFill>
                  </a:rPr>
                </a:br>
                <a:endParaRPr lang="it-CH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CH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it-CH" sz="20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it-CH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CH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it-CH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p>
                              <m:sSupPr>
                                <m:ctrlPr>
                                  <a:rPr lang="it-CH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it-CH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it-CH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it-CH" sz="20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p>
                                        <m:r>
                                          <a:rPr lang="it-CH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p>
                                    </m:sSup>
                                    <m:r>
                                      <a:rPr lang="it-CH" sz="20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it-CH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it-CH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it-CH" sz="20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it-CH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p>
                                    </m:sSup>
                                    <m:r>
                                      <a:rPr lang="it-CH" sz="2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it-CH" sz="20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it-CH" sz="2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it-CH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it-CH" sz="2000" dirty="0"/>
                  <a:t>   </a:t>
                </a:r>
                <a:r>
                  <a:rPr lang="it-CH" sz="2000" dirty="0">
                    <a:solidFill>
                      <a:srgbClr val="FF0000"/>
                    </a:solidFill>
                  </a:rPr>
                  <a:t>loss (MSE)</a:t>
                </a:r>
              </a:p>
              <a:p>
                <a:endParaRPr lang="it-CH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CasellaDiTesto 6">
                <a:extLst>
                  <a:ext uri="{FF2B5EF4-FFF2-40B4-BE49-F238E27FC236}">
                    <a16:creationId xmlns:a16="http://schemas.microsoft.com/office/drawing/2014/main" id="{D03F9AC4-14F8-D3B9-DEBB-5087705696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31800" y="1916114"/>
                <a:ext cx="5562600" cy="2350002"/>
              </a:xfrm>
              <a:prstGeom prst="rect">
                <a:avLst/>
              </a:prstGeom>
              <a:blipFill>
                <a:blip r:embed="rId3"/>
                <a:stretch>
                  <a:fillRect l="-2283" t="-2151" b="-967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9">
                <a:extLst>
                  <a:ext uri="{FF2B5EF4-FFF2-40B4-BE49-F238E27FC236}">
                    <a16:creationId xmlns:a16="http://schemas.microsoft.com/office/drawing/2014/main" id="{7382CDE9-83B9-C0BC-6E74-D6AA17E735FE}"/>
                  </a:ext>
                </a:extLst>
              </p:cNvPr>
              <p:cNvSpPr txBox="1"/>
              <p:nvPr/>
            </p:nvSpPr>
            <p:spPr>
              <a:xfrm>
                <a:off x="1211267" y="4290607"/>
                <a:ext cx="4131470" cy="560923"/>
              </a:xfrm>
              <a:prstGeom prst="rect">
                <a:avLst/>
              </a:prstGeom>
              <a:noFill/>
              <a:ln>
                <a:solidFill>
                  <a:srgbClr val="00B0F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it-CH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CH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it-CH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CH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CH" sz="2800" b="0" i="1" smtClean="0">
                          <a:latin typeface="Cambria Math" panose="02040503050406030204" pitchFamily="18" charset="0"/>
                        </a:rPr>
                        <m:t>𝑎𝑟𝑔</m:t>
                      </m:r>
                      <m:func>
                        <m:funcPr>
                          <m:ctrlPr>
                            <a:rPr lang="it-CH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it-CH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it-CH" sz="28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it-CH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r>
                            <a:rPr lang="it-CH" sz="28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it-CH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CH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it-CH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it-CH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CasellaDiTesto 9">
                <a:extLst>
                  <a:ext uri="{FF2B5EF4-FFF2-40B4-BE49-F238E27FC236}">
                    <a16:creationId xmlns:a16="http://schemas.microsoft.com/office/drawing/2014/main" id="{7382CDE9-83B9-C0BC-6E74-D6AA17E73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267" y="4290607"/>
                <a:ext cx="4131470" cy="560923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  <a:ln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B8C780A-7AAE-0249-6918-7245290607C0}"/>
              </a:ext>
            </a:extLst>
          </p:cNvPr>
          <p:cNvSpPr txBox="1"/>
          <p:nvPr/>
        </p:nvSpPr>
        <p:spPr bwMode="auto">
          <a:xfrm>
            <a:off x="407368" y="5157192"/>
            <a:ext cx="6912768" cy="14157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20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Expressive model structures like neural networks</a:t>
            </a: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20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Iterative optimization, often gradient-based</a:t>
            </a: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20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Efficient software for automatic differentiation</a:t>
            </a: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CH" sz="20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461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E8001-5870-C067-5D63-021AC3D34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Feed-Forward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294E8-E0A0-A574-4988-F87A35FAFA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H" dirty="0"/>
              <a:t>It is just a particular model structure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156153-9458-D55F-8AD0-96CB5CBD3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3780" y="1844676"/>
            <a:ext cx="5562600" cy="4321175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 </a:t>
            </a:r>
          </a:p>
        </p:txBody>
      </p:sp>
      <p:pic>
        <p:nvPicPr>
          <p:cNvPr id="16" name="Immagine 6">
            <a:extLst>
              <a:ext uri="{FF2B5EF4-FFF2-40B4-BE49-F238E27FC236}">
                <a16:creationId xmlns:a16="http://schemas.microsoft.com/office/drawing/2014/main" id="{AF128F4C-A6AD-1947-5340-E36D1C0A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705" y="2745167"/>
            <a:ext cx="4253600" cy="2370244"/>
          </a:xfrm>
          <a:prstGeom prst="rect">
            <a:avLst/>
          </a:prstGeom>
        </p:spPr>
      </p:pic>
      <p:sp>
        <p:nvSpPr>
          <p:cNvPr id="17" name="Parentesi graffa aperta 8">
            <a:extLst>
              <a:ext uri="{FF2B5EF4-FFF2-40B4-BE49-F238E27FC236}">
                <a16:creationId xmlns:a16="http://schemas.microsoft.com/office/drawing/2014/main" id="{61F39866-80C7-32E8-38DD-652A2C48CCBA}"/>
              </a:ext>
            </a:extLst>
          </p:cNvPr>
          <p:cNvSpPr/>
          <p:nvPr/>
        </p:nvSpPr>
        <p:spPr>
          <a:xfrm>
            <a:off x="715787" y="2760550"/>
            <a:ext cx="420316" cy="190795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CasellaDiTesto 9">
            <a:extLst>
              <a:ext uri="{FF2B5EF4-FFF2-40B4-BE49-F238E27FC236}">
                <a16:creationId xmlns:a16="http://schemas.microsoft.com/office/drawing/2014/main" id="{D1EB62CC-2889-E622-B148-F522BE9B0CA3}"/>
              </a:ext>
            </a:extLst>
          </p:cNvPr>
          <p:cNvSpPr txBox="1"/>
          <p:nvPr/>
        </p:nvSpPr>
        <p:spPr>
          <a:xfrm rot="16200000">
            <a:off x="309777" y="3602386"/>
            <a:ext cx="521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Input</a:t>
            </a:r>
          </a:p>
        </p:txBody>
      </p:sp>
      <p:sp>
        <p:nvSpPr>
          <p:cNvPr id="21" name="CasellaDiTesto 10 1">
            <a:extLst>
              <a:ext uri="{FF2B5EF4-FFF2-40B4-BE49-F238E27FC236}">
                <a16:creationId xmlns:a16="http://schemas.microsoft.com/office/drawing/2014/main" id="{98160406-2113-9488-5376-A17645707A84}"/>
              </a:ext>
            </a:extLst>
          </p:cNvPr>
          <p:cNvSpPr txBox="1"/>
          <p:nvPr/>
        </p:nvSpPr>
        <p:spPr>
          <a:xfrm>
            <a:off x="1857917" y="2489861"/>
            <a:ext cx="12241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Hidden Layer 1</a:t>
            </a:r>
          </a:p>
        </p:txBody>
      </p:sp>
      <p:sp>
        <p:nvSpPr>
          <p:cNvPr id="22" name="Parentesi graffa aperta 12">
            <a:extLst>
              <a:ext uri="{FF2B5EF4-FFF2-40B4-BE49-F238E27FC236}">
                <a16:creationId xmlns:a16="http://schemas.microsoft.com/office/drawing/2014/main" id="{09E6F49F-8BBF-9C99-18D5-5149C10CCFC0}"/>
              </a:ext>
            </a:extLst>
          </p:cNvPr>
          <p:cNvSpPr/>
          <p:nvPr/>
        </p:nvSpPr>
        <p:spPr>
          <a:xfrm rot="5400000">
            <a:off x="2221157" y="2654398"/>
            <a:ext cx="344695" cy="557000"/>
          </a:xfrm>
          <a:prstGeom prst="leftBrac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7" name="Parentesi graffa aperta 17">
            <a:extLst>
              <a:ext uri="{FF2B5EF4-FFF2-40B4-BE49-F238E27FC236}">
                <a16:creationId xmlns:a16="http://schemas.microsoft.com/office/drawing/2014/main" id="{171715F1-62B1-B2C2-C375-04E04BEFB088}"/>
              </a:ext>
            </a:extLst>
          </p:cNvPr>
          <p:cNvSpPr/>
          <p:nvPr/>
        </p:nvSpPr>
        <p:spPr>
          <a:xfrm rot="5400000">
            <a:off x="3425662" y="2805792"/>
            <a:ext cx="344695" cy="557000"/>
          </a:xfrm>
          <a:prstGeom prst="leftBrac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CasellaDiTesto 10 2">
            <a:extLst>
              <a:ext uri="{FF2B5EF4-FFF2-40B4-BE49-F238E27FC236}">
                <a16:creationId xmlns:a16="http://schemas.microsoft.com/office/drawing/2014/main" id="{34CCE346-CE06-7AA3-6E20-9A1651EBBC52}"/>
              </a:ext>
            </a:extLst>
          </p:cNvPr>
          <p:cNvSpPr txBox="1"/>
          <p:nvPr/>
        </p:nvSpPr>
        <p:spPr>
          <a:xfrm>
            <a:off x="3138128" y="2645792"/>
            <a:ext cx="12241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Hidden Layer 2</a:t>
            </a:r>
          </a:p>
        </p:txBody>
      </p:sp>
      <p:sp>
        <p:nvSpPr>
          <p:cNvPr id="30" name="Parentesi graffa aperta 20">
            <a:extLst>
              <a:ext uri="{FF2B5EF4-FFF2-40B4-BE49-F238E27FC236}">
                <a16:creationId xmlns:a16="http://schemas.microsoft.com/office/drawing/2014/main" id="{D30B3BC0-E4F1-ACA1-800A-AE72F256280A}"/>
              </a:ext>
            </a:extLst>
          </p:cNvPr>
          <p:cNvSpPr/>
          <p:nvPr/>
        </p:nvSpPr>
        <p:spPr>
          <a:xfrm rot="5400000">
            <a:off x="4626457" y="3205158"/>
            <a:ext cx="344695" cy="557000"/>
          </a:xfrm>
          <a:prstGeom prst="leftBrac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" name="CasellaDiTesto 10 3">
            <a:extLst>
              <a:ext uri="{FF2B5EF4-FFF2-40B4-BE49-F238E27FC236}">
                <a16:creationId xmlns:a16="http://schemas.microsoft.com/office/drawing/2014/main" id="{E604CF1E-05F5-0E80-DCB3-55831AF0E21D}"/>
              </a:ext>
            </a:extLst>
          </p:cNvPr>
          <p:cNvSpPr txBox="1"/>
          <p:nvPr/>
        </p:nvSpPr>
        <p:spPr>
          <a:xfrm>
            <a:off x="4396513" y="3054301"/>
            <a:ext cx="6565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Output</a:t>
            </a:r>
          </a:p>
        </p:txBody>
      </p:sp>
      <p:pic>
        <p:nvPicPr>
          <p:cNvPr id="6" name="Picture 5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dgreen}{z_1^2} =\sigma\left(\sum_{j=1}^4 w^1_{1,j}\textcolor{red}{z^1_j} + b_1^1\right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D13589F3-1DC2-9E1D-BB0C-8B25715A51D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888088" y="1908674"/>
            <a:ext cx="2323590" cy="767427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blue}{z_2^3} =\sigma\left(\sum_{j=1}^5 w^2_{2,j}\textcolor{dgreen}{z^2_j} + b^2_2\right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ED923469-399B-F4E8-199D-9CA4E0E24AC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888088" y="2871249"/>
            <a:ext cx="2323591" cy="767427"/>
          </a:xfrm>
          <a:prstGeom prst="rect">
            <a:avLst/>
          </a:prstGeom>
        </p:spPr>
      </p:pic>
      <p:pic>
        <p:nvPicPr>
          <p:cNvPr id="10" name="Picture 9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begin{document}&#10;&#10; \begin{align*}&#10;\textcolor{dyel}{y=z^4} = \sum_{j=1}^3 w^3_{1,j}\textcolor{blue}{z^3_j} + b^3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CF829E5A-3D8C-4558-25B5-99921DD620B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878566" y="3833271"/>
            <a:ext cx="2238322" cy="660840"/>
          </a:xfrm>
          <a:prstGeom prst="rect">
            <a:avLst/>
          </a:prstGeom>
        </p:spPr>
      </p:pic>
      <p:pic>
        <p:nvPicPr>
          <p:cNvPr id="11" name="Picture 10" descr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definecolor{dgreen}{RGB}{0,100,0}&#10;\begin{document}&#10;&#10;\begin{align*}&#10;\textcolor{dyel}{y} = W_3\sigma\big(W_2\sigma(W_1 x + b_1)+ b_2\big) + b_3 = \mathrm{FF}(x;\theta)&#10;\end{align*}&#10;&#10;&#10;&#10;\end{document}" title="IguanaTex Bitmap Display">
            <a:extLst>
              <a:ext uri="{FF2B5EF4-FFF2-40B4-BE49-F238E27FC236}">
                <a16:creationId xmlns:a16="http://schemas.microsoft.com/office/drawing/2014/main" id="{35BCA1F8-6612-5629-EF41-8F107FD30E20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878083" y="4671896"/>
            <a:ext cx="4391375" cy="25581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F7F5295-ABF5-C88A-DA29-8AF310E60E02}"/>
              </a:ext>
            </a:extLst>
          </p:cNvPr>
          <p:cNvSpPr txBox="1"/>
          <p:nvPr/>
        </p:nvSpPr>
        <p:spPr bwMode="auto">
          <a:xfrm>
            <a:off x="455620" y="5744836"/>
            <a:ext cx="7668766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r>
              <a:rPr lang="en-CH" sz="18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For regression, the output equation is typically linear (no activation function)</a:t>
            </a:r>
          </a:p>
        </p:txBody>
      </p:sp>
      <p:pic>
        <p:nvPicPr>
          <p:cNvPr id="39" name="Picture 38" descr="A picture containing chart&#10;&#10;Description automatically generated">
            <a:extLst>
              <a:ext uri="{FF2B5EF4-FFF2-40B4-BE49-F238E27FC236}">
                <a16:creationId xmlns:a16="http://schemas.microsoft.com/office/drawing/2014/main" id="{955EF848-7659-A3D2-0BFC-BD9E8173CC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62875" y="4512525"/>
            <a:ext cx="1549033" cy="767639"/>
          </a:xfrm>
          <a:prstGeom prst="rect">
            <a:avLst/>
          </a:prstGeom>
          <a:ln>
            <a:noFill/>
          </a:ln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67B1FE4-F292-BF3E-74C4-165DFE219628}"/>
              </a:ext>
            </a:extLst>
          </p:cNvPr>
          <p:cNvSpPr/>
          <p:nvPr/>
        </p:nvSpPr>
        <p:spPr>
          <a:xfrm>
            <a:off x="4436755" y="4587367"/>
            <a:ext cx="288032" cy="16228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40" name="Isosceles Triangle 24">
            <a:extLst>
              <a:ext uri="{FF2B5EF4-FFF2-40B4-BE49-F238E27FC236}">
                <a16:creationId xmlns:a16="http://schemas.microsoft.com/office/drawing/2014/main" id="{C4E45C51-A5B0-4EEE-8BEF-5455DA5A05BF}"/>
              </a:ext>
            </a:extLst>
          </p:cNvPr>
          <p:cNvSpPr/>
          <p:nvPr/>
        </p:nvSpPr>
        <p:spPr>
          <a:xfrm rot="16200000">
            <a:off x="2551881" y="4508279"/>
            <a:ext cx="896357" cy="794837"/>
          </a:xfrm>
          <a:prstGeom prst="triangle">
            <a:avLst>
              <a:gd name="adj" fmla="val 49470"/>
            </a:avLst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pic>
        <p:nvPicPr>
          <p:cNvPr id="20" name="Picture 19" descr="\documentclass{article}&#10;\usepackage{amsmath}&#10;\usepackage{amsfonts}&#10;\usepackage{color}&#10;\newcommand{\red}[1]{{\color{red}#1}}&#10;&#10;\pagestyle{empty}&#10;&#10;\begin{document}&#10;&#10;$$&#10;\sigma(\cdot)&#10;$$&#10;&#10;\end{document}" title="IguanaTex Bitmap Display">
            <a:extLst>
              <a:ext uri="{FF2B5EF4-FFF2-40B4-BE49-F238E27FC236}">
                <a16:creationId xmlns:a16="http://schemas.microsoft.com/office/drawing/2014/main" id="{D8468A0B-34D8-D2C2-0406-DB7CDF86859C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491455" y="4584406"/>
            <a:ext cx="233332" cy="155555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430356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102FE-A70C-AA6C-B353-AB980591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Gradient Descent</a:t>
            </a:r>
          </a:p>
        </p:txBody>
      </p:sp>
      <p:pic>
        <p:nvPicPr>
          <p:cNvPr id="5" name="Immagine 2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&#10;\begin{enumerate}&#10;    \item \textbf{Initialize Parameters}: $\theta^{(0)}$&#10;    &#10;    \item \textbf{for $k=0,1,\ldots$}: \textbf{until} maximum number of iterations or   convergence \textbf{do}:&#10;    \begin{enumerate}&#10;        \item \textbf{Compute Gradient}: $\nabla_\theta \mathcal{L}(\theta^{(k)})$ &#10;        &#10;        \item \textbf{Update Parameters}: &#10;        \[ \theta^{(k+1)} = \theta^{(k)} - \gamma \cdot \nabla_\theta \mathcal{L}(\theta^{(k)}) \]&#10;    \end{enumerate}&#10;\end{enumerate}&#10;&#10;\end{document}&#10;&#10;&#10;&#10;&#10;\end{document}" title="IguanaTex Bitmap Display">
            <a:extLst>
              <a:ext uri="{FF2B5EF4-FFF2-40B4-BE49-F238E27FC236}">
                <a16:creationId xmlns:a16="http://schemas.microsoft.com/office/drawing/2014/main" id="{62248E98-A36C-D6B0-6E28-BD3BEC5828DB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" y="2204864"/>
            <a:ext cx="7214784" cy="1944216"/>
          </a:xfrm>
          <a:prstGeom prst="rect">
            <a:avLst/>
          </a:prstGeom>
        </p:spPr>
      </p:pic>
      <p:pic>
        <p:nvPicPr>
          <p:cNvPr id="6" name="Immagine 3" descr="Immagine che contiene diagramma, disegno, design&#10;&#10;Descrizione generata automaticamente">
            <a:extLst>
              <a:ext uri="{FF2B5EF4-FFF2-40B4-BE49-F238E27FC236}">
                <a16:creationId xmlns:a16="http://schemas.microsoft.com/office/drawing/2014/main" id="{D0FA9C8B-D86C-38EA-CC28-DCD73AFA521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20" r="10297"/>
          <a:stretch/>
        </p:blipFill>
        <p:spPr>
          <a:xfrm>
            <a:off x="8112224" y="1484784"/>
            <a:ext cx="2905069" cy="304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FB8C405-93FC-F38D-D463-5B958359D850}"/>
              </a:ext>
            </a:extLst>
          </p:cNvPr>
          <p:cNvSpPr txBox="1"/>
          <p:nvPr/>
        </p:nvSpPr>
        <p:spPr bwMode="auto">
          <a:xfrm>
            <a:off x="431800" y="5261563"/>
            <a:ext cx="10283700" cy="941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18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Mini-batching: at each iteration, compute loss &amp; gradients on a subset of the dataset</a:t>
            </a: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1800" kern="0" dirty="0">
                <a:ea typeface="ＭＳ Ｐゴシック" pitchFamily="-112" charset="-128"/>
                <a:cs typeface="ＭＳ Ｐゴシック" pitchFamily="-112" charset="-128"/>
              </a:rPr>
              <a:t>Variants of plain gradient descent like Adam are more common</a:t>
            </a: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18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Second-order methods like (L)-BFGS also possible for small/medium-scale problems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646594-1810-E67E-CDEF-AFEDBB4FE6D9}"/>
              </a:ext>
            </a:extLst>
          </p:cNvPr>
          <p:cNvSpPr txBox="1"/>
          <p:nvPr/>
        </p:nvSpPr>
        <p:spPr bwMode="auto">
          <a:xfrm>
            <a:off x="263352" y="4443202"/>
            <a:ext cx="842493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8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 Local convergence to one of the several minima is OK!</a:t>
            </a:r>
          </a:p>
        </p:txBody>
      </p:sp>
    </p:spTree>
    <p:extLst>
      <p:ext uri="{BB962C8B-B14F-4D97-AF65-F5344CB8AC3E}">
        <p14:creationId xmlns:p14="http://schemas.microsoft.com/office/powerpoint/2010/main" val="4270921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5F9FC-F866-BB65-58D8-D66B45F39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synthetic toy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05CF2-6073-6C99-1D2C-B5E2D56EC1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2D function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Training and test datasets: 500 points uniformly sampled in the domain.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Additive noise with standard deviation 0.1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15" name="Picture 14" descr="\documentclass{article}&#10;\usepackage{amsmath}&#10;\usepackage{amsfonts}&#10;&#10;\pagestyle{empty}&#10;&#10;\begin{document}&#10;&#10;% $$f : \mathbb{R}^2 \rightarrow \mathbb{R}; \qquad x \rightarrow 2\sin (x_1) - 3\cos (x_2)$$&#10;&#10;$$ f(x) = 2\sin (x_1) - 3\cos (x_2) $$&#10;$$ x \in [-2, 2]^2 \subset \mathbb{R}^2$$&#10;&#10;\end{document}" title="IguanaTex Bitmap Display">
            <a:extLst>
              <a:ext uri="{FF2B5EF4-FFF2-40B4-BE49-F238E27FC236}">
                <a16:creationId xmlns:a16="http://schemas.microsoft.com/office/drawing/2014/main" id="{80CC267D-3EC5-EA07-1A32-744B63959DF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348484" y="2564904"/>
            <a:ext cx="2880320" cy="683466"/>
          </a:xfrm>
          <a:prstGeom prst="rect">
            <a:avLst/>
          </a:prstGeom>
        </p:spPr>
      </p:pic>
      <p:pic>
        <p:nvPicPr>
          <p:cNvPr id="29" name="Picture 28" descr="\documentclass{article}&#10;\usepackage{amsmath}&#10;\usepackage{amsfonts}&#10;&#10;\pagestyle{empty}&#10;&#10;\begin{document}&#10;&#10;\begin{equation*}&#10;f : \mathbb{R}^2 \rightarrow \mathbb{R}&#10;\end{equation*}&#10;&#10;\end{document}" title="IguanaTex Bitmap Display">
            <a:extLst>
              <a:ext uri="{FF2B5EF4-FFF2-40B4-BE49-F238E27FC236}">
                <a16:creationId xmlns:a16="http://schemas.microsoft.com/office/drawing/2014/main" id="{01ED47AF-BE2A-E7E9-9716-0E6F20B51B3D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143672" y="1916114"/>
            <a:ext cx="1219200" cy="2794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632B98A-5FA7-9C26-A837-54245EF6E6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676" y="1628800"/>
            <a:ext cx="3600400" cy="372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524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804E7-0721-7149-948A-85259177F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529" y="514376"/>
            <a:ext cx="11328400" cy="719137"/>
          </a:xfrm>
        </p:spPr>
        <p:txBody>
          <a:bodyPr/>
          <a:lstStyle/>
          <a:p>
            <a:r>
              <a:rPr lang="en-CH" dirty="0"/>
              <a:t>Feed-forward neural network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4D8950-C0BF-A6A6-09C7-4106EAE27FE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6456040" y="1342960"/>
            <a:ext cx="4807663" cy="4894329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97F13347-09B8-E160-C192-94DD0224C3C6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3665" y="1136835"/>
                <a:ext cx="5736208" cy="43211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="" xmlns:ma14="http://schemas.microsoft.com/office/mac/drawingml/2011/main" val="1"/>
                </a:ext>
              </a:extLst>
            </p:spPr>
            <p:txBody>
              <a:bodyPr vert="horz" wrap="square" lIns="0" tIns="0" rIns="0" bIns="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  <a:cs typeface="ＭＳ Ｐゴシック" pitchFamily="-112" charset="-128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–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»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112" charset="-128"/>
                  </a:defRPr>
                </a:lvl9pPr>
              </a:lstStyle>
              <a:p>
                <a:r>
                  <a:rPr lang="en-US" kern="0" dirty="0"/>
                  <a:t>2 inputs, 1 output - this is the structure of </a:t>
                </a:r>
                <a14:m>
                  <m:oMath xmlns:m="http://schemas.openxmlformats.org/officeDocument/2006/math"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kern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kern="0" dirty="0"/>
              </a:p>
              <a:p>
                <a:r>
                  <a:rPr lang="en-US" kern="0" dirty="0"/>
                  <a:t>2 hidden layers with [16, 8] neurons</a:t>
                </a:r>
              </a:p>
              <a:p>
                <a:r>
                  <a:rPr lang="en-US" kern="0" dirty="0"/>
                  <a:t>tanh non-linearities</a:t>
                </a:r>
              </a:p>
              <a:p>
                <a:pPr marL="0" indent="0">
                  <a:buNone/>
                </a:pPr>
                <a:endParaRPr lang="en-US" kern="0" dirty="0"/>
              </a:p>
              <a:p>
                <a:pPr marL="0" indent="0">
                  <a:buNone/>
                </a:pPr>
                <a:r>
                  <a:rPr lang="en-US" kern="0" dirty="0"/>
                  <a:t>Training with 5000 iterations of Adam…</a:t>
                </a:r>
              </a:p>
              <a:p>
                <a:pPr marL="0" indent="0">
                  <a:buFontTx/>
                  <a:buNone/>
                </a:pPr>
                <a:endParaRPr lang="en-US" kern="0" dirty="0"/>
              </a:p>
              <a:p>
                <a:pPr marL="0" indent="0">
                  <a:buFontTx/>
                  <a:buNone/>
                </a:pPr>
                <a:endParaRPr lang="en-US" kern="0" dirty="0"/>
              </a:p>
              <a:p>
                <a:pPr marL="0" indent="0">
                  <a:buFontTx/>
                  <a:buNone/>
                </a:pPr>
                <a:r>
                  <a:rPr lang="en-US" kern="0" dirty="0"/>
                  <a:t> 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97F13347-09B8-E160-C192-94DD0224C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3665" y="1136835"/>
                <a:ext cx="5736208" cy="4321175"/>
              </a:xfrm>
              <a:prstGeom prst="rect">
                <a:avLst/>
              </a:prstGeom>
              <a:blipFill>
                <a:blip r:embed="rId5"/>
                <a:stretch>
                  <a:fillRect l="-2428" t="-146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="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A picture containing chart&#10;&#10;Description automatically generated">
            <a:extLst>
              <a:ext uri="{FF2B5EF4-FFF2-40B4-BE49-F238E27FC236}">
                <a16:creationId xmlns:a16="http://schemas.microsoft.com/office/drawing/2014/main" id="{C9EC537F-D1C5-9BBC-10B7-32B245F7D3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8288" y="716309"/>
            <a:ext cx="1697177" cy="841053"/>
          </a:xfrm>
          <a:prstGeom prst="rect">
            <a:avLst/>
          </a:prstGeom>
        </p:spPr>
      </p:pic>
      <p:sp>
        <p:nvSpPr>
          <p:cNvPr id="21" name="Isosceles Triangle 24">
            <a:extLst>
              <a:ext uri="{FF2B5EF4-FFF2-40B4-BE49-F238E27FC236}">
                <a16:creationId xmlns:a16="http://schemas.microsoft.com/office/drawing/2014/main" id="{70B74A45-9947-2966-FE8C-6778609000ED}"/>
              </a:ext>
            </a:extLst>
          </p:cNvPr>
          <p:cNvSpPr/>
          <p:nvPr/>
        </p:nvSpPr>
        <p:spPr>
          <a:xfrm rot="10800000">
            <a:off x="8976320" y="1628800"/>
            <a:ext cx="896357" cy="794837"/>
          </a:xfrm>
          <a:prstGeom prst="triangle">
            <a:avLst>
              <a:gd name="adj" fmla="val 4947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pic>
        <p:nvPicPr>
          <p:cNvPr id="6" name="Picture 5" descr="\documentclass{article}&#10;\usepackage{amsmath}&#10;\usepackage{amsfonts}&#10;&#10;\pagestyle{empty}&#10;&#10;\begin{document}&#10;&#10;\begin{equation*}&#10;x&#10;\end{equation*}&#10;&#10;\end{document}" title="IguanaTex Bitmap Display">
            <a:extLst>
              <a:ext uri="{FF2B5EF4-FFF2-40B4-BE49-F238E27FC236}">
                <a16:creationId xmlns:a16="http://schemas.microsoft.com/office/drawing/2014/main" id="{D07E7997-71F3-377E-3C4A-6A76D38D61D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6345643" y="3573016"/>
            <a:ext cx="127000" cy="127000"/>
          </a:xfrm>
          <a:prstGeom prst="rect">
            <a:avLst/>
          </a:prstGeom>
        </p:spPr>
      </p:pic>
      <p:pic>
        <p:nvPicPr>
          <p:cNvPr id="11" name="Picture 10" descr="\documentclass{article}&#10;\usepackage{amsmath}&#10;\usepackage{amsfonts}&#10;&#10;\pagestyle{empty}&#10;&#10;\begin{document}&#10;&#10;\begin{equation*}&#10;\hat y&#10;\end{equation*}&#10;&#10;\end{document}" title="IguanaTex Bitmap Display">
            <a:extLst>
              <a:ext uri="{FF2B5EF4-FFF2-40B4-BE49-F238E27FC236}">
                <a16:creationId xmlns:a16="http://schemas.microsoft.com/office/drawing/2014/main" id="{81D1E45A-15CC-DA32-4C75-81369A6D41E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920536" y="3522216"/>
            <a:ext cx="127000" cy="228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1884D7-92E6-6EB3-D179-288CFA7946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0253" y="2780928"/>
            <a:ext cx="3883844" cy="316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453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B37C-6113-EED2-058E-0505CCF59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977" y="392543"/>
            <a:ext cx="11328400" cy="719137"/>
          </a:xfrm>
        </p:spPr>
        <p:txBody>
          <a:bodyPr/>
          <a:lstStyle/>
          <a:p>
            <a:r>
              <a:rPr lang="en-CH" kern="0" dirty="0"/>
              <a:t>Model evaluation</a:t>
            </a:r>
            <a:endParaRPr lang="en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8249AE-A792-8844-978A-35D4858BE9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078547" y="1268760"/>
            <a:ext cx="2580692" cy="2019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5D232C-CB44-6982-EE87-9F00598265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3177" y="1199843"/>
            <a:ext cx="2854410" cy="23839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447361-1382-758F-863C-EF6F4421E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382" y="3762610"/>
            <a:ext cx="2663966" cy="2491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DD11E5-2088-AE16-D69D-7AF3CF055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812" y="3808920"/>
            <a:ext cx="2663965" cy="2491300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9E5B0C4-5B6B-65BD-FC4E-71A373CD028A}"/>
              </a:ext>
            </a:extLst>
          </p:cNvPr>
          <p:cNvSpPr txBox="1">
            <a:spLocks/>
          </p:cNvSpPr>
          <p:nvPr/>
        </p:nvSpPr>
        <p:spPr bwMode="auto">
          <a:xfrm>
            <a:off x="421091" y="1274242"/>
            <a:ext cx="5566099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  <a:cs typeface="ＭＳ Ｐゴシック" pitchFamily="-112" charset="-128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9pPr>
          </a:lstStyle>
          <a:p>
            <a:pPr marL="0" indent="0">
              <a:buNone/>
            </a:pPr>
            <a:r>
              <a:rPr lang="en-US" kern="0" dirty="0"/>
              <a:t>It is common to inspect on the test dataset:</a:t>
            </a:r>
          </a:p>
          <a:p>
            <a:pPr marL="0" indent="0">
              <a:buNone/>
            </a:pPr>
            <a:endParaRPr lang="en-US" kern="0" dirty="0"/>
          </a:p>
          <a:p>
            <a:r>
              <a:rPr lang="en-US" kern="0" dirty="0"/>
              <a:t>Predictions and residuals vs measured y (left)</a:t>
            </a:r>
          </a:p>
          <a:p>
            <a:r>
              <a:rPr lang="en-US" kern="0" dirty="0"/>
              <a:t>Histogram of residuals (right)</a:t>
            </a:r>
          </a:p>
          <a:p>
            <a:r>
              <a:rPr lang="en-US" kern="0" dirty="0"/>
              <a:t>Keep on following good statistical practices!</a:t>
            </a:r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r>
              <a:rPr lang="en-US" kern="0" dirty="0"/>
              <a:t>In this toy example, we can do more:</a:t>
            </a:r>
          </a:p>
          <a:p>
            <a:r>
              <a:rPr lang="en-US" kern="0" dirty="0"/>
              <a:t>Input is 2D. We can visualize the learned function over a grid (left)</a:t>
            </a:r>
          </a:p>
          <a:p>
            <a:r>
              <a:rPr lang="en-US" kern="0" dirty="0"/>
              <a:t>The true function is known. We can also visualize it in 2D (right)</a:t>
            </a:r>
          </a:p>
          <a:p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FontTx/>
              <a:buNone/>
            </a:pPr>
            <a:endParaRPr lang="en-US" kern="0" dirty="0"/>
          </a:p>
          <a:p>
            <a:pPr marL="0" indent="0">
              <a:buFontTx/>
              <a:buNone/>
            </a:pPr>
            <a:endParaRPr lang="en-US" kern="0" dirty="0"/>
          </a:p>
          <a:p>
            <a:pPr marL="0" indent="0">
              <a:buFontTx/>
              <a:buNone/>
            </a:pPr>
            <a:r>
              <a:rPr lang="en-US" kern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24556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012AEEC-28A5-C1FD-33A5-F741B79C5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7692D-A23B-B33D-8076-3B87B2828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977" y="392543"/>
            <a:ext cx="11328400" cy="719137"/>
          </a:xfrm>
        </p:spPr>
        <p:txBody>
          <a:bodyPr/>
          <a:lstStyle/>
          <a:p>
            <a:r>
              <a:rPr lang="en-CH" kern="0" dirty="0"/>
              <a:t>Deep Learning for System Identification</a:t>
            </a:r>
            <a:endParaRPr lang="en-CH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0EC6AD1-C0FC-32A3-9ECD-07E3E9F8BA1D}"/>
              </a:ext>
            </a:extLst>
          </p:cNvPr>
          <p:cNvSpPr txBox="1">
            <a:spLocks/>
          </p:cNvSpPr>
          <p:nvPr/>
        </p:nvSpPr>
        <p:spPr bwMode="auto">
          <a:xfrm>
            <a:off x="421091" y="1274242"/>
            <a:ext cx="9995389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  <a:cs typeface="ＭＳ Ｐゴシック" pitchFamily="-112" charset="-128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9pPr>
          </a:lstStyle>
          <a:p>
            <a:r>
              <a:rPr lang="en-US" kern="0" dirty="0"/>
              <a:t>Feed-forward nets fed by lagged input/outputs are directly applicable for NARX regression</a:t>
            </a:r>
          </a:p>
          <a:p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r>
              <a:rPr lang="en-US" kern="0" dirty="0"/>
              <a:t>State-space models with neural-network update/output maps:</a:t>
            </a:r>
          </a:p>
          <a:p>
            <a:pPr lvl="1"/>
            <a:r>
              <a:rPr lang="en-US" kern="0" dirty="0"/>
              <a:t>Also known as Recurrent Neural Networks</a:t>
            </a:r>
          </a:p>
          <a:p>
            <a:pPr lvl="1"/>
            <a:endParaRPr lang="en-US" kern="0" dirty="0"/>
          </a:p>
          <a:p>
            <a:pPr lvl="1"/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FontTx/>
              <a:buNone/>
            </a:pPr>
            <a:endParaRPr lang="en-US" kern="0" dirty="0"/>
          </a:p>
          <a:p>
            <a:pPr marL="0" indent="0">
              <a:buFontTx/>
              <a:buNone/>
            </a:pPr>
            <a:endParaRPr lang="en-US" kern="0" dirty="0"/>
          </a:p>
          <a:p>
            <a:pPr marL="0" indent="0">
              <a:buFontTx/>
              <a:buNone/>
            </a:pPr>
            <a:r>
              <a:rPr lang="en-US" kern="0" dirty="0"/>
              <a:t> </a:t>
            </a:r>
          </a:p>
        </p:txBody>
      </p:sp>
      <p:pic>
        <p:nvPicPr>
          <p:cNvPr id="22" name="Picture 21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hat{y}(k) &amp;=  \mathrm{FF}\big(&#10;\overbrace{&#10;y(k-1),  \ldots, y(k-n_a), u(k),  u(k-1), \ldots,  u(k-n_b-1)&#10;}^{=x(k)}&#10;; {\theta} \big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DB0D048E-9936-BDC8-D973-3CE6BC3750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19885" y="1772816"/>
            <a:ext cx="9357357" cy="822960"/>
          </a:xfrm>
          <a:prstGeom prst="rect">
            <a:avLst/>
          </a:prstGeom>
        </p:spPr>
      </p:pic>
      <p:pic>
        <p:nvPicPr>
          <p:cNvPr id="26" name="Picture 25" descr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{k+1}) &amp;= \mathrm{FF}_x(x(k), u(k); \theta) \\&#10;y(k) &amp;= \mathrm{FF}_y(x(k); \theta)&#10;\end{align*}&#10;&#10;\end{document}" title="IguanaTex Bitmap Display">
            <a:extLst>
              <a:ext uri="{FF2B5EF4-FFF2-40B4-BE49-F238E27FC236}">
                <a16:creationId xmlns:a16="http://schemas.microsoft.com/office/drawing/2014/main" id="{A762EB67-BA8C-13E6-F98D-7995A978B75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575720" y="4149080"/>
            <a:ext cx="3840480" cy="79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25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D1BAB9-6DF4-8192-33A7-CCE908A9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FD29A-76C9-2E7C-6661-5E795955F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977" y="392543"/>
            <a:ext cx="11328400" cy="719137"/>
          </a:xfrm>
        </p:spPr>
        <p:txBody>
          <a:bodyPr/>
          <a:lstStyle/>
          <a:p>
            <a:r>
              <a:rPr lang="en-CH" kern="0" dirty="0"/>
              <a:t>What we won’t cover</a:t>
            </a:r>
            <a:endParaRPr lang="en-CH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29F1414-EAB3-963B-21E1-273ACB01CC5F}"/>
              </a:ext>
            </a:extLst>
          </p:cNvPr>
          <p:cNvSpPr txBox="1">
            <a:spLocks/>
          </p:cNvSpPr>
          <p:nvPr/>
        </p:nvSpPr>
        <p:spPr bwMode="auto">
          <a:xfrm>
            <a:off x="421091" y="1274242"/>
            <a:ext cx="9995389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  <a:cs typeface="ＭＳ Ｐゴシック" pitchFamily="-112" charset="-128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ＭＳ Ｐゴシック" pitchFamily="-112" charset="-128"/>
              </a:defRPr>
            </a:lvl9pPr>
          </a:lstStyle>
          <a:p>
            <a:r>
              <a:rPr lang="en-US" kern="0" dirty="0"/>
              <a:t>Advanced architectures</a:t>
            </a:r>
          </a:p>
          <a:p>
            <a:pPr lvl="1"/>
            <a:r>
              <a:rPr lang="en-US" kern="0" dirty="0"/>
              <a:t>physics-informed</a:t>
            </a:r>
          </a:p>
          <a:p>
            <a:pPr lvl="1"/>
            <a:r>
              <a:rPr lang="en-US" kern="0" dirty="0"/>
              <a:t>grounded on system theory (e.g., stable by design)</a:t>
            </a:r>
          </a:p>
          <a:p>
            <a:pPr lvl="1"/>
            <a:r>
              <a:rPr lang="en-US" kern="0" dirty="0"/>
              <a:t>transformers, diffusion, foundation models </a:t>
            </a:r>
          </a:p>
          <a:p>
            <a:pPr lvl="1"/>
            <a:endParaRPr lang="en-US" kern="0" dirty="0"/>
          </a:p>
          <a:p>
            <a:r>
              <a:rPr lang="en-US" kern="0" dirty="0"/>
              <a:t>Optimization</a:t>
            </a:r>
          </a:p>
          <a:p>
            <a:pPr lvl="1"/>
            <a:r>
              <a:rPr lang="en-US" kern="0" dirty="0"/>
              <a:t>mini-batching (to handle large datasets)</a:t>
            </a:r>
          </a:p>
          <a:p>
            <a:pPr lvl="1"/>
            <a:r>
              <a:rPr lang="en-US" kern="0" dirty="0"/>
              <a:t>second-order, non-smooth, constrained…</a:t>
            </a:r>
          </a:p>
          <a:p>
            <a:pPr lvl="1"/>
            <a:r>
              <a:rPr lang="en-US" kern="0" dirty="0"/>
              <a:t>automatic differentiation details</a:t>
            </a:r>
          </a:p>
          <a:p>
            <a:pPr lvl="1"/>
            <a:endParaRPr lang="en-US" kern="0" dirty="0"/>
          </a:p>
          <a:p>
            <a:r>
              <a:rPr lang="en-US" kern="0" dirty="0"/>
              <a:t>Theoretical aspects</a:t>
            </a:r>
          </a:p>
          <a:p>
            <a:pPr lvl="1"/>
            <a:r>
              <a:rPr lang="en-US" kern="0" dirty="0"/>
              <a:t>learning theory</a:t>
            </a:r>
          </a:p>
          <a:p>
            <a:pPr lvl="1"/>
            <a:r>
              <a:rPr lang="en-US" kern="0" dirty="0"/>
              <a:t>uncertainty quantification</a:t>
            </a:r>
          </a:p>
          <a:p>
            <a:pPr lvl="1"/>
            <a:r>
              <a:rPr lang="en-US" kern="0" dirty="0"/>
              <a:t>…</a:t>
            </a:r>
          </a:p>
          <a:p>
            <a:pPr lvl="1"/>
            <a:endParaRPr lang="en-US" kern="0" dirty="0"/>
          </a:p>
          <a:p>
            <a:endParaRPr lang="en-US" kern="0" dirty="0"/>
          </a:p>
          <a:p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None/>
            </a:pPr>
            <a:endParaRPr lang="en-US" kern="0" dirty="0"/>
          </a:p>
          <a:p>
            <a:pPr marL="0" indent="0">
              <a:buFontTx/>
              <a:buNone/>
            </a:pPr>
            <a:endParaRPr lang="en-US" kern="0" dirty="0"/>
          </a:p>
          <a:p>
            <a:pPr marL="0" indent="0">
              <a:buFontTx/>
              <a:buNone/>
            </a:pPr>
            <a:endParaRPr lang="en-US" kern="0" dirty="0"/>
          </a:p>
          <a:p>
            <a:pPr marL="0" indent="0">
              <a:buFontTx/>
              <a:buNone/>
            </a:pPr>
            <a:r>
              <a:rPr lang="en-US" kern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44845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BA5DF8-92E0-EDC8-F118-27B5B1164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90B4C-E69F-6BC3-FF88-3CA89A82E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977" y="392543"/>
            <a:ext cx="11328400" cy="719137"/>
          </a:xfrm>
        </p:spPr>
        <p:txBody>
          <a:bodyPr/>
          <a:lstStyle/>
          <a:p>
            <a:r>
              <a:rPr lang="en-CH" kern="0" dirty="0"/>
              <a:t>Software for Deep Learning</a:t>
            </a:r>
            <a:endParaRPr lang="en-CH" dirty="0"/>
          </a:p>
        </p:txBody>
      </p:sp>
      <p:pic>
        <p:nvPicPr>
          <p:cNvPr id="1032" name="Picture 8" descr="Pytorch logo - Free Icon PNG, SVG">
            <a:extLst>
              <a:ext uri="{FF2B5EF4-FFF2-40B4-BE49-F238E27FC236}">
                <a16:creationId xmlns:a16="http://schemas.microsoft.com/office/drawing/2014/main" id="{805585A0-A3EB-E59D-E876-9076A4FD40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54" y="2132856"/>
            <a:ext cx="2304256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42D795-F833-BEA3-5393-A5278F0C3F90}"/>
              </a:ext>
            </a:extLst>
          </p:cNvPr>
          <p:cNvSpPr txBox="1"/>
          <p:nvPr/>
        </p:nvSpPr>
        <p:spPr bwMode="auto">
          <a:xfrm>
            <a:off x="520700" y="1238250"/>
            <a:ext cx="8743652" cy="5262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8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An essential aspect is the software implementation. Non-exaustive options are:</a:t>
            </a: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1800" kern="0" dirty="0">
                <a:ea typeface="ＭＳ Ｐゴシック" pitchFamily="-112" charset="-128"/>
                <a:cs typeface="ＭＳ Ｐゴシック" pitchFamily="-112" charset="-128"/>
              </a:rPr>
              <a:t>PyTorch and Jax: libraries on top of Python</a:t>
            </a: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1800" kern="0" dirty="0">
                <a:ea typeface="ＭＳ Ｐゴシック" pitchFamily="-112" charset="-128"/>
                <a:cs typeface="ＭＳ Ｐゴシック" pitchFamily="-112" charset="-128"/>
              </a:rPr>
              <a:t>Julia: programming  language focused on numerical computations</a:t>
            </a:r>
          </a:p>
          <a:p>
            <a:pPr marL="285750" indent="-285750" eaLnBrk="0" hangingPunct="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CH" sz="1800" kern="0" dirty="0">
                <a:ea typeface="ＭＳ Ｐゴシック" pitchFamily="-112" charset="-128"/>
                <a:cs typeface="ＭＳ Ｐゴシック" pitchFamily="-112" charset="-128"/>
              </a:rPr>
              <a:t>MATLAB: you should know it already…</a:t>
            </a: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r>
              <a:rPr lang="en-CH" sz="18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We will try out Jax!</a:t>
            </a:r>
          </a:p>
          <a:p>
            <a:pPr eaLnBrk="0" hangingPunct="0">
              <a:spcBef>
                <a:spcPct val="20000"/>
              </a:spcBef>
            </a:pPr>
            <a:endParaRPr lang="en-CH" sz="18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1034" name="Picture 10" descr="GitHub - jax-ml/jax: Composable ...">
            <a:extLst>
              <a:ext uri="{FF2B5EF4-FFF2-40B4-BE49-F238E27FC236}">
                <a16:creationId xmlns:a16="http://schemas.microsoft.com/office/drawing/2014/main" id="{268F13D3-8643-11D1-984E-195CB12FD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712" y="2132856"/>
            <a:ext cx="1656168" cy="960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>
            <a:extLst>
              <a:ext uri="{FF2B5EF4-FFF2-40B4-BE49-F238E27FC236}">
                <a16:creationId xmlns:a16="http://schemas.microsoft.com/office/drawing/2014/main" id="{DCD1F176-8510-9FB9-BB25-96C6BF78A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5103" y="1916832"/>
            <a:ext cx="1623530" cy="145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0A1BE9-26B2-1897-3223-1F515F5716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7577" y="1916832"/>
            <a:ext cx="1977987" cy="1268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670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A449753-3E11-5768-FB2C-FB8063F38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965D8-938E-8A43-0B93-44D62386B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977" y="392543"/>
            <a:ext cx="11328400" cy="719137"/>
          </a:xfrm>
        </p:spPr>
        <p:txBody>
          <a:bodyPr/>
          <a:lstStyle/>
          <a:p>
            <a:r>
              <a:rPr lang="en-CH" kern="0" dirty="0"/>
              <a:t>Links &amp; Bibliography</a:t>
            </a:r>
            <a:endParaRPr lang="en-C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41633D-D911-B245-C45C-2CC2581D914F}"/>
              </a:ext>
            </a:extLst>
          </p:cNvPr>
          <p:cNvSpPr txBox="1"/>
          <p:nvPr/>
        </p:nvSpPr>
        <p:spPr bwMode="auto">
          <a:xfrm>
            <a:off x="520700" y="1238250"/>
            <a:ext cx="8743652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8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13754653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36"/>
  <p:tag name="ORIGINALWIDTH" val="109"/>
  <p:tag name="OUTPUTTYPE" val="PDF"/>
  <p:tag name="IGUANATEXVERSION" val="160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dgreen}{z_1^2} =\sigma\left(\sum_{j=1}^4 w^1_{1,j}\textcolor{red}{z^1_j} + b_1^1\right)&#10; \end{align*}&#10;&#10;&#10;&#10;&#10;\end{document}"/>
  <p:tag name="IGUANATEXSIZE" val="24"/>
  <p:tag name="IGUANATEXCURSOR" val="482"/>
  <p:tag name="TRANSPARENCY" val="True"/>
  <p:tag name="LATEXENGINEID" val="0"/>
  <p:tag name="TEMPFOLDER" val="/Users/marco.forgione/Library/Containers/com.microsoft.Powerpoint/Data/tmp/TemporaryItems/"/>
  <p:tag name="LATEXFORMHEIGHT" val="468"/>
  <p:tag name="LATEXFORMWIDTH" val="1148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36"/>
  <p:tag name="ORIGINALWIDTH" val="109"/>
  <p:tag name="OUTPUTTYPE" val="PDF"/>
  <p:tag name="IGUANATEXVERSION" val="160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green}{RGB}{0,100,0}&#10;\begin{document}&#10;&#10; \begin{align*}&#10;\textcolor{blue}{z_2^3} =\sigma\left(\sum_{j=1}^5 w^2_{2,j}\textcolor{dgreen}{z^2_j} + b^2_2\right)&#10; \end{align*}&#10;&#10;&#10;&#10;&#10;\end{document}"/>
  <p:tag name="IGUANATEXSIZE" val="24"/>
  <p:tag name="IGUANATEXCURSOR" val="483"/>
  <p:tag name="TRANSPARENCY" val="True"/>
  <p:tag name="LATEXENGINEID" val="0"/>
  <p:tag name="TEMPFOLDER" val="/Users/marco.forgione/Library/Containers/com.microsoft.Powerpoint/Data/tmp/TemporaryItems/"/>
  <p:tag name="LATEXFORMHEIGHT" val="516"/>
  <p:tag name="LATEXFORMWIDTH" val="673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31"/>
  <p:tag name="ORIGINALWIDTH" val="105"/>
  <p:tag name="OUTPUTTYPE" val="PDF"/>
  <p:tag name="IGUANATEXVERSION" val="160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begin{document}&#10;&#10; \begin{align*}&#10;\textcolor{dyel}{y=z^4} = \sum_{j=1}^3 w^3_{1,j}\textcolor{blue}{z^3_j} + b^3&#10; \end{align*}&#10;&#10;&#10;&#10;&#10;\end{document}"/>
  <p:tag name="IGUANATEXSIZE" val="24"/>
  <p:tag name="IGUANATEXCURSOR" val="461"/>
  <p:tag name="TRANSPARENCY" val="True"/>
  <p:tag name="LATEXENGINEID" val="0"/>
  <p:tag name="TEMPFOLDER" val="/Users/marco.forgione/Library/Containers/com.microsoft.Powerpoint/Data/tmp/TemporaryItems/"/>
  <p:tag name="LATEXFORMHEIGHT" val="441"/>
  <p:tag name="LATEXFORMWIDTH" val="599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2"/>
  <p:tag name="ORIGINALWIDTH" val="206"/>
  <p:tag name="OUTPUTTYPE" val="PDF"/>
  <p:tag name="IGUANATEXVERSION" val="160"/>
  <p:tag name="LATEXADDIN" val="\documentclass{article}&#10;\usepackage{amsmath}&#10;\pagestyle{empty}&#10;\usepackage{bm}&#10;\usepackage{xcolor}&#10;\newcommand{\pmeas}{{\bf p}}&#10;\newcommand{\umeas}{{\bf u}}&#10;\newcommand{\ymeas}{{\bf y}}&#10;\newcommand{\yo}{{\bf y}^{\rm o} }&#10;&#10;\newcommand{\nin}{n_u} &#10;\newcommand{\ny}{n_y} &#10;\newcommand{\nx}{n_x} &#10;\newcommand{\np}{n_p} &#10;\definecolor{dyel}{RGB}{155,155,0}&#10;\definecolor{dgreen}{RGB}{0,100,0}&#10;\begin{document}&#10;&#10;\begin{align*}&#10;\textcolor{dyel}{y} = W_3\sigma\big(W_2\sigma(W_1 x + b_1)+ b_2\big) + b_3 = \mathrm{FF}(x;\theta)&#10;\end{align*}&#10;&#10;&#10;&#10;\end{document}"/>
  <p:tag name="IGUANATEXSIZE" val="24"/>
  <p:tag name="IGUANATEXCURSOR" val="506"/>
  <p:tag name="TRANSPARENCY" val="True"/>
  <p:tag name="LATEXENGINEID" val="0"/>
  <p:tag name="TEMPFOLDER" val="/Users/marco.forgione/Library/Containers/com.microsoft.Powerpoint/Data/tmp/TemporaryItems/"/>
  <p:tag name="LATEXFORMHEIGHT" val="461"/>
  <p:tag name="LATEXFORMWIDTH" val="739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1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sigma(\cdot)&#10;$$&#10;&#10;\end{document}"/>
  <p:tag name="IGUANATEXSIZE" val="18"/>
  <p:tag name="IGUANATEXCURSOR" val="178"/>
  <p:tag name="TRANSPARENCY" val="Fals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54.518"/>
  <p:tag name="ORIGINALWIDTH" val="6879.6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&#10;\begin{enumerate}&#10;    \item \textbf{Initialize Parameters}: $\theta^{(0)}$&#10;    &#10;    \item \textbf{for $k=0,1,\ldots$}: \textbf{until} maximum number of iterations or   convergence \textbf{do}:&#10;    \begin{enumerate}&#10;        \item \textbf{Compute Gradient}: $\nabla_\theta \mathcal{L}(\theta^{(k)})$ &#10;        &#10;        \item \textbf{Update Parameters}: &#10;        \[ \theta^{(k+1)} = \theta^{(k)} - \gamma \cdot \nabla_\theta \mathcal{L}(\theta^{(k)}) \]&#10;    \end{enumerate}&#10;\end{enumerate}&#10;&#10;\end{document}&#10;&#10;&#10;&#10;&#10;\end{document}"/>
  <p:tag name="IGUANATEXSIZE" val="20"/>
  <p:tag name="IGUANATEXCURSOR" val="65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8"/>
  <p:tag name="ORIGINALWIDTH" val="118"/>
  <p:tag name="OUTPUTTYPE" val="PDF"/>
  <p:tag name="IGUANATEXVERSION" val="160"/>
  <p:tag name="LATEXADDIN" val="\documentclass{article}&#10;\usepackage{amsmath}&#10;\usepackage{amsfonts}&#10;&#10;\pagestyle{empty}&#10;&#10;\begin{document}&#10;&#10;% $$f : \mathbb{R}^2 \rightarrow \mathbb{R}; \qquad x \rightarrow 2\sin (x_1) - 3\cos (x_2)$$&#10;&#10;$$ f(x) = 2\sin (x_1) - 3\cos (x_2) $$&#10;$$ x \in [-2, 2]^2 \subset \mathbb{R}^2$$&#10;&#10;\end{document}"/>
  <p:tag name="IGUANATEXSIZE" val="18"/>
  <p:tag name="IGUANATEXCURSOR" val="259"/>
  <p:tag name="TRANSPARENCY" val="True"/>
  <p:tag name="LATEXENGINEID" val="0"/>
  <p:tag name="TEMPFOLDER" val="/Users/marco.forgione/Library/Containers/com.microsoft.Powerpoint/Data/tmp/TemporaryItems/"/>
  <p:tag name="LATEXFORMHEIGHT" val="434"/>
  <p:tag name="LATEXFORMWIDTH" val="888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48"/>
  <p:tag name="OUTPUTTYPE" val="PDF"/>
  <p:tag name="IGUANATEXVERSION" val="160"/>
  <p:tag name="LATEXADDIN" val="\documentclass{article}&#10;\usepackage{amsmath}&#10;\usepackage{amsfonts}&#10;&#10;\pagestyle{empty}&#10;&#10;\begin{document}&#10;&#10;\begin{equation*}&#10;f : \mathbb{R}^2 \rightarrow \mathbb{R}&#10;\end{equation*}&#10;&#10;\end{document}"/>
  <p:tag name="IGUANATEXSIZE" val="20"/>
  <p:tag name="IGUANATEXCURSOR" val="162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"/>
  <p:tag name="ORIGINALWIDTH" val="5"/>
  <p:tag name="OUTPUTTYPE" val="PDF"/>
  <p:tag name="IGUANATEXVERSION" val="160"/>
  <p:tag name="LATEXADDIN" val="\documentclass{article}&#10;\usepackage{amsmath}&#10;\usepackage{amsfonts}&#10;&#10;\pagestyle{empty}&#10;&#10;\begin{document}&#10;&#10;\begin{equation*}&#10;x&#10;\end{equation*}&#10;&#10;\end{document}"/>
  <p:tag name="IGUANATEXSIZE" val="20"/>
  <p:tag name="IGUANATEXCURSOR" val="12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5"/>
  <p:tag name="OUTPUTTYPE" val="PDF"/>
  <p:tag name="IGUANATEXVERSION" val="160"/>
  <p:tag name="LATEXADDIN" val="\documentclass{article}&#10;\usepackage{amsmath}&#10;\usepackage{amsfonts}&#10;&#10;\pagestyle{empty}&#10;&#10;\begin{document}&#10;&#10;\begin{equation*}&#10;\hat y&#10;\end{equation*}&#10;&#10;\end{document}"/>
  <p:tag name="IGUANATEXSIZE" val="20"/>
  <p:tag name="IGUANATEXCURSOR" val="128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7"/>
  <p:tag name="ORIGINALWIDTH" val="307"/>
  <p:tag name="OUTPUTTYPE" val="PDF"/>
  <p:tag name="IGUANATEXVERSION" val="160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hat{y}(k) &amp;=  \mathrm{FF}\big(&#10;\overbrace{&#10;y(k-1),  \ldots, y(k-n_a), u(k),  u(k-1), \ldots,  u(k-n_b-1)&#10;}^{=x(k)}&#10;; {\theta} \big) &#10; \end{align*}&#10;&#10;&#10;&#10;&#10;\end{document}"/>
  <p:tag name="IGUANATEXSIZE" val="24"/>
  <p:tag name="IGUANATEXCURSOR" val="502"/>
  <p:tag name="TRANSPARENCY" val="True"/>
  <p:tag name="LATEXENGINEID" val="0"/>
  <p:tag name="TEMPFOLDER" val="/Users/marco.forgione/Library/Containers/com.microsoft.Powerpoint/Data/tmp/TemporaryItems/"/>
  <p:tag name="LATEXFORMHEIGHT" val="506"/>
  <p:tag name="LATEXFORMWIDTH" val="631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"/>
  <p:tag name="ORIGINALWIDTH" val="126"/>
  <p:tag name="OUTPUTTYPE" val="PDF"/>
  <p:tag name="IGUANATEXVERSION" val="160"/>
  <p:tag name="LATEXADDIN" val="\documentclass{article}&#10;\usepackage{amsmath}&#10;\newcommand{\sys}{S}&#10;\newcommand{\diss}{d}&#10;\newcommand{\learn}{\mathcal{L}} &#10;\newcommand{\free}{\mathcal{M}}  &#10;\newcommand{\D}{\mathcal{D}}&#10;\newcommand{\R}{\mathbb{R}}&#10;\newcommand{\nsamp}{N}&#10;\newcommand{\norm}[1]{\left\lVert#1\right\rVert}&#10;\newcommand{\E}{\mathbb{E}}&#10;\newcommand{\mdl}{M}&#10;\newcommand{\mdlstruc}{\mathcal{M}}&#10;\pagestyle{empty}&#10;&#10;\begin{document}&#10;&#10;\begin{align*}&#10;x({k+1}) &amp;= \mathrm{FF}_x(x(k), u(k); \theta) \\&#10;y(k) &amp;= \mathrm{FF}_y(x(k); \theta)&#10;\end{align*}&#10;&#10;\end{document}"/>
  <p:tag name="IGUANATEXSIZE" val="24"/>
  <p:tag name="IGUANATEXCURSOR" val="459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heme/theme1.xml><?xml version="1.0" encoding="utf-8"?>
<a:theme xmlns:a="http://schemas.openxmlformats.org/drawingml/2006/main" name="SUPSI_DACD_CCR_2010">
  <a:themeElements>
    <a:clrScheme name="SUPSI 1">
      <a:dk1>
        <a:srgbClr val="000000"/>
      </a:dk1>
      <a:lt1>
        <a:sysClr val="window" lastClr="FFFFFF"/>
      </a:lt1>
      <a:dk2>
        <a:srgbClr val="141C64"/>
      </a:dk2>
      <a:lt2>
        <a:srgbClr val="FFFFFF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000000"/>
      </a:hlink>
      <a:folHlink>
        <a:srgbClr val="646464"/>
      </a:folHlink>
    </a:clrScheme>
    <a:fontScheme name="SUPSI_DSAS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lIns="0" tIns="0" rIns="0" bIns="0">
        <a:prstTxWarp prst="textNoShape">
          <a:avLst/>
        </a:prstTxWarp>
      </a:bodyPr>
      <a:lstStyle>
        <a:defPPr eaLnBrk="0" hangingPunct="0">
          <a:spcBef>
            <a:spcPct val="20000"/>
          </a:spcBef>
          <a:defRPr sz="1400" kern="0" dirty="0" smtClean="0">
            <a:latin typeface="+mn-lt"/>
            <a:ea typeface="ＭＳ Ｐゴシック" pitchFamily="-112" charset="-128"/>
            <a:cs typeface="ＭＳ Ｐゴシック" pitchFamily="-112" charset="-128"/>
          </a:defRPr>
        </a:defPPr>
      </a:lstStyle>
    </a:txDef>
  </a:objectDefaults>
  <a:extraClrSchemeLst>
    <a:extraClrScheme>
      <a:clrScheme name="SUPSI_DSA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43B4D0C91CA54E9BBFAD215D4A4FF7" ma:contentTypeVersion="18" ma:contentTypeDescription="Create a new document." ma:contentTypeScope="" ma:versionID="48c4930ddcec7bff74490998dd84a4c1">
  <xsd:schema xmlns:xsd="http://www.w3.org/2001/XMLSchema" xmlns:xs="http://www.w3.org/2001/XMLSchema" xmlns:p="http://schemas.microsoft.com/office/2006/metadata/properties" xmlns:ns2="0c05fedb-ed2a-4eb3-93de-5f5a6c97bfe0" xmlns:ns3="c69d801c-64cd-49bc-b1b3-ec2496ede094" targetNamespace="http://schemas.microsoft.com/office/2006/metadata/properties" ma:root="true" ma:fieldsID="dcb337392c8a5973c5e221652a72fbb4" ns2:_="" ns3:_="">
    <xsd:import namespace="0c05fedb-ed2a-4eb3-93de-5f5a6c97bfe0"/>
    <xsd:import namespace="c69d801c-64cd-49bc-b1b3-ec2496ede0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05fedb-ed2a-4eb3-93de-5f5a6c97bf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ec321eb7-7579-4b0b-aaae-46c07e4320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9d801c-64cd-49bc-b1b3-ec2496ede094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25ad22e3-f7d4-475a-9946-b2f27a0b53ef}" ma:internalName="TaxCatchAll" ma:showField="CatchAllData" ma:web="c69d801c-64cd-49bc-b1b3-ec2496ede09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c05fedb-ed2a-4eb3-93de-5f5a6c97bfe0">
      <Terms xmlns="http://schemas.microsoft.com/office/infopath/2007/PartnerControls"/>
    </lcf76f155ced4ddcb4097134ff3c332f>
    <TaxCatchAll xmlns="c69d801c-64cd-49bc-b1b3-ec2496ede094" xsi:nil="true"/>
  </documentManagement>
</p:properties>
</file>

<file path=customXml/itemProps1.xml><?xml version="1.0" encoding="utf-8"?>
<ds:datastoreItem xmlns:ds="http://schemas.openxmlformats.org/officeDocument/2006/customXml" ds:itemID="{950C4CF8-8E6C-4481-8DE0-79509E1800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05fedb-ed2a-4eb3-93de-5f5a6c97bfe0"/>
    <ds:schemaRef ds:uri="c69d801c-64cd-49bc-b1b3-ec2496ede0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7E0BBE-38AF-4179-B401-F6E82B6A5F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62A9E72-43F2-4CCE-8F90-EBA4919DBB42}">
  <ds:schemaRefs>
    <ds:schemaRef ds:uri="http://schemas.microsoft.com/office/2006/documentManagement/types"/>
    <ds:schemaRef ds:uri="c69d801c-64cd-49bc-b1b3-ec2496ede094"/>
    <ds:schemaRef ds:uri="http://purl.org/dc/dcmitype/"/>
    <ds:schemaRef ds:uri="http://purl.org/dc/elements/1.1/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0c05fedb-ed2a-4eb3-93de-5f5a6c97bfe0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Powerpoint_ST_CS_1 copia</Template>
  <TotalTime>626</TotalTime>
  <Words>463</Words>
  <Application>Microsoft Macintosh PowerPoint</Application>
  <PresentationFormat>Widescreen</PresentationFormat>
  <Paragraphs>134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ＭＳ Ｐゴシック</vt:lpstr>
      <vt:lpstr>Arial</vt:lpstr>
      <vt:lpstr>Cambria Math</vt:lpstr>
      <vt:lpstr>Helvetica</vt:lpstr>
      <vt:lpstr>Times New Roman</vt:lpstr>
      <vt:lpstr>SUPSI_DACD_CCR_2010</vt:lpstr>
      <vt:lpstr>Deep Learning for System Identification</vt:lpstr>
      <vt:lpstr>Artificial Intelligence, Machine Learning, Deep Learning</vt:lpstr>
      <vt:lpstr>Machine learning: Regression</vt:lpstr>
      <vt:lpstr>Feed-Forward Neural Networks</vt:lpstr>
      <vt:lpstr>Gradient Descent</vt:lpstr>
      <vt:lpstr>Example: synthetic toy dataset</vt:lpstr>
      <vt:lpstr>Feed-forward neural network</vt:lpstr>
      <vt:lpstr>Model evaluation</vt:lpstr>
      <vt:lpstr>Deep Learning for System Identification</vt:lpstr>
      <vt:lpstr>What we won’t cover</vt:lpstr>
      <vt:lpstr>Software for Deep Learning</vt:lpstr>
      <vt:lpstr>Links &amp; Bibliography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Utente di Microsoft Office</dc:creator>
  <cp:lastModifiedBy>Forgione Marco</cp:lastModifiedBy>
  <cp:revision>191</cp:revision>
  <cp:lastPrinted>2026-01-20T13:24:17Z</cp:lastPrinted>
  <dcterms:created xsi:type="dcterms:W3CDTF">2017-01-20T15:44:58Z</dcterms:created>
  <dcterms:modified xsi:type="dcterms:W3CDTF">2026-01-20T13:25:43Z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0x010100E943B4D0C91CA54E9BBFAD215D4A4FF7</vt:lpwstr>
  </property>
  <property fmtid="{D5CDD505-2E9C-101B-9397-08002B2CF9AE}" pid="3" name="MediaServiceImageTags">
    <vt:lpwstr/>
  </property>
</Properties>
</file>